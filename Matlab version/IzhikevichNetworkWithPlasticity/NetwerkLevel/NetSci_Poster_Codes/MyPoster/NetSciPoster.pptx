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0265688" cy="42792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7DE951-8399-2866-8478-9D401C88883E}" v="7" dt="2024-06-14T01:58:06.007"/>
    <p1510:client id="{CEA0AD16-07BF-4D02-84B2-A44A59449222}" v="81" dt="2024-06-14T04:47:07.826"/>
    <p1510:client id="{DA090A3A-A215-744C-9979-B46ACCED6390}" v="67" dt="2024-06-14T05:28:24.107"/>
    <p1510:client id="{E53A9BA9-7704-42E0-BF2F-47341CDCBEC2}" v="3173" dt="2024-06-14T02:50:23.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97"/>
  </p:normalViewPr>
  <p:slideViewPr>
    <p:cSldViewPr snapToGrid="0">
      <p:cViewPr>
        <p:scale>
          <a:sx n="45" d="100"/>
          <a:sy n="45" d="100"/>
        </p:scale>
        <p:origin x="144" y="-6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EDB12-F666-DF41-9E40-47D74909DE35}" type="datetimeFigureOut">
              <a:rPr lang="en-US" smtClean="0"/>
              <a:t>6/14/24</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BD83D0-D7C3-FD47-B4A5-613A71B5E522}" type="slidenum">
              <a:rPr lang="en-US" smtClean="0"/>
              <a:t>‹#›</a:t>
            </a:fld>
            <a:endParaRPr lang="en-US"/>
          </a:p>
        </p:txBody>
      </p:sp>
    </p:spTree>
    <p:extLst>
      <p:ext uri="{BB962C8B-B14F-4D97-AF65-F5344CB8AC3E}">
        <p14:creationId xmlns:p14="http://schemas.microsoft.com/office/powerpoint/2010/main" val="2125048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1BD83D0-D7C3-FD47-B4A5-613A71B5E522}" type="slidenum">
              <a:rPr lang="en-US" smtClean="0"/>
              <a:t>1</a:t>
            </a:fld>
            <a:endParaRPr lang="en-US"/>
          </a:p>
        </p:txBody>
      </p:sp>
    </p:spTree>
    <p:extLst>
      <p:ext uri="{BB962C8B-B14F-4D97-AF65-F5344CB8AC3E}">
        <p14:creationId xmlns:p14="http://schemas.microsoft.com/office/powerpoint/2010/main" val="1963348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9927" y="7003337"/>
            <a:ext cx="25725835" cy="14898182"/>
          </a:xfrm>
        </p:spPr>
        <p:txBody>
          <a:bodyPr anchor="b"/>
          <a:lstStyle>
            <a:lvl1pPr algn="ctr">
              <a:defRPr sz="19859"/>
            </a:lvl1pPr>
          </a:lstStyle>
          <a:p>
            <a:r>
              <a:rPr lang="en-US"/>
              <a:t>Click to edit Master title style</a:t>
            </a:r>
          </a:p>
        </p:txBody>
      </p:sp>
      <p:sp>
        <p:nvSpPr>
          <p:cNvPr id="3" name="Subtitle 2"/>
          <p:cNvSpPr>
            <a:spLocks noGrp="1"/>
          </p:cNvSpPr>
          <p:nvPr>
            <p:ph type="subTitle" idx="1"/>
          </p:nvPr>
        </p:nvSpPr>
        <p:spPr>
          <a:xfrm>
            <a:off x="3783211" y="22476050"/>
            <a:ext cx="22699266" cy="10331648"/>
          </a:xfrm>
        </p:spPr>
        <p:txBody>
          <a:bodyPr/>
          <a:lstStyle>
            <a:lvl1pPr marL="0" indent="0" algn="ctr">
              <a:buNone/>
              <a:defRPr sz="7944"/>
            </a:lvl1pPr>
            <a:lvl2pPr marL="1513286" indent="0" algn="ctr">
              <a:buNone/>
              <a:defRPr sz="6620"/>
            </a:lvl2pPr>
            <a:lvl3pPr marL="3026573" indent="0" algn="ctr">
              <a:buNone/>
              <a:defRPr sz="5958"/>
            </a:lvl3pPr>
            <a:lvl4pPr marL="4539859" indent="0" algn="ctr">
              <a:buNone/>
              <a:defRPr sz="5296"/>
            </a:lvl4pPr>
            <a:lvl5pPr marL="6053145" indent="0" algn="ctr">
              <a:buNone/>
              <a:defRPr sz="5296"/>
            </a:lvl5pPr>
            <a:lvl6pPr marL="7566431" indent="0" algn="ctr">
              <a:buNone/>
              <a:defRPr sz="5296"/>
            </a:lvl6pPr>
            <a:lvl7pPr marL="9079718" indent="0" algn="ctr">
              <a:buNone/>
              <a:defRPr sz="5296"/>
            </a:lvl7pPr>
            <a:lvl8pPr marL="10593004" indent="0" algn="ctr">
              <a:buNone/>
              <a:defRPr sz="5296"/>
            </a:lvl8pPr>
            <a:lvl9pPr marL="12106290" indent="0" algn="ctr">
              <a:buNone/>
              <a:defRPr sz="5296"/>
            </a:lvl9pPr>
          </a:lstStyle>
          <a:p>
            <a:r>
              <a:rPr lang="en-US"/>
              <a:t>Click to edit Master subtitle style</a:t>
            </a:r>
          </a:p>
        </p:txBody>
      </p:sp>
      <p:sp>
        <p:nvSpPr>
          <p:cNvPr id="4" name="Date Placeholder 3"/>
          <p:cNvSpPr>
            <a:spLocks noGrp="1"/>
          </p:cNvSpPr>
          <p:nvPr>
            <p:ph type="dt" sz="half" idx="10"/>
          </p:nvPr>
        </p:nvSpPr>
        <p:spPr/>
        <p:txBody>
          <a:bodyPr/>
          <a:lstStyle/>
          <a:p>
            <a:fld id="{C3749168-CCE8-478B-8BCF-22095EF9332E}" type="datetimeFigureOut">
              <a:rPr lang="en-CA" smtClean="0"/>
              <a:t>2024-06-14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216298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749168-CCE8-478B-8BCF-22095EF9332E}" type="datetimeFigureOut">
              <a:rPr lang="en-CA" smtClean="0"/>
              <a:t>2024-06-14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101172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004" y="10668458"/>
            <a:ext cx="26104156" cy="17800551"/>
          </a:xfrm>
        </p:spPr>
        <p:txBody>
          <a:bodyPr anchor="b"/>
          <a:lstStyle>
            <a:lvl1pPr>
              <a:defRPr sz="19859"/>
            </a:lvl1pPr>
          </a:lstStyle>
          <a:p>
            <a:r>
              <a:rPr lang="en-US"/>
              <a:t>Click to edit Master title style</a:t>
            </a:r>
          </a:p>
        </p:txBody>
      </p:sp>
      <p:sp>
        <p:nvSpPr>
          <p:cNvPr id="3" name="Text Placeholder 2"/>
          <p:cNvSpPr>
            <a:spLocks noGrp="1"/>
          </p:cNvSpPr>
          <p:nvPr>
            <p:ph type="body" idx="1"/>
          </p:nvPr>
        </p:nvSpPr>
        <p:spPr>
          <a:xfrm>
            <a:off x="2065004" y="28637409"/>
            <a:ext cx="26104156" cy="9360889"/>
          </a:xfrm>
        </p:spPr>
        <p:txBody>
          <a:bodyPr/>
          <a:lstStyle>
            <a:lvl1pPr marL="0" indent="0">
              <a:buNone/>
              <a:defRPr sz="7944">
                <a:solidFill>
                  <a:schemeClr val="tx1"/>
                </a:solidFill>
              </a:defRPr>
            </a:lvl1pPr>
            <a:lvl2pPr marL="1513286" indent="0">
              <a:buNone/>
              <a:defRPr sz="6620">
                <a:solidFill>
                  <a:schemeClr val="tx1">
                    <a:tint val="75000"/>
                  </a:schemeClr>
                </a:solidFill>
              </a:defRPr>
            </a:lvl2pPr>
            <a:lvl3pPr marL="3026573" indent="0">
              <a:buNone/>
              <a:defRPr sz="5958">
                <a:solidFill>
                  <a:schemeClr val="tx1">
                    <a:tint val="75000"/>
                  </a:schemeClr>
                </a:solidFill>
              </a:defRPr>
            </a:lvl3pPr>
            <a:lvl4pPr marL="4539859" indent="0">
              <a:buNone/>
              <a:defRPr sz="5296">
                <a:solidFill>
                  <a:schemeClr val="tx1">
                    <a:tint val="75000"/>
                  </a:schemeClr>
                </a:solidFill>
              </a:defRPr>
            </a:lvl4pPr>
            <a:lvl5pPr marL="6053145" indent="0">
              <a:buNone/>
              <a:defRPr sz="5296">
                <a:solidFill>
                  <a:schemeClr val="tx1">
                    <a:tint val="75000"/>
                  </a:schemeClr>
                </a:solidFill>
              </a:defRPr>
            </a:lvl5pPr>
            <a:lvl6pPr marL="7566431" indent="0">
              <a:buNone/>
              <a:defRPr sz="5296">
                <a:solidFill>
                  <a:schemeClr val="tx1">
                    <a:tint val="75000"/>
                  </a:schemeClr>
                </a:solidFill>
              </a:defRPr>
            </a:lvl6pPr>
            <a:lvl7pPr marL="9079718" indent="0">
              <a:buNone/>
              <a:defRPr sz="5296">
                <a:solidFill>
                  <a:schemeClr val="tx1">
                    <a:tint val="75000"/>
                  </a:schemeClr>
                </a:solidFill>
              </a:defRPr>
            </a:lvl7pPr>
            <a:lvl8pPr marL="10593004" indent="0">
              <a:buNone/>
              <a:defRPr sz="5296">
                <a:solidFill>
                  <a:schemeClr val="tx1">
                    <a:tint val="75000"/>
                  </a:schemeClr>
                </a:solidFill>
              </a:defRPr>
            </a:lvl8pPr>
            <a:lvl9pPr marL="12106290" indent="0">
              <a:buNone/>
              <a:defRPr sz="529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749168-CCE8-478B-8BCF-22095EF9332E}" type="datetimeFigureOut">
              <a:rPr lang="en-CA" smtClean="0"/>
              <a:t>2024-06-14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163765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80766" y="11391562"/>
            <a:ext cx="12862917" cy="271515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322005" y="11391562"/>
            <a:ext cx="12862917" cy="271515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749168-CCE8-478B-8BCF-22095EF9332E}" type="datetimeFigureOut">
              <a:rPr lang="en-CA" smtClean="0"/>
              <a:t>2024-06-14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45256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708" y="2278322"/>
            <a:ext cx="26104156" cy="8271268"/>
          </a:xfrm>
        </p:spPr>
        <p:txBody>
          <a:bodyPr/>
          <a:lstStyle/>
          <a:p>
            <a:r>
              <a:rPr lang="en-US"/>
              <a:t>Click to edit Master title style</a:t>
            </a:r>
          </a:p>
        </p:txBody>
      </p:sp>
      <p:sp>
        <p:nvSpPr>
          <p:cNvPr id="3" name="Text Placeholder 2"/>
          <p:cNvSpPr>
            <a:spLocks noGrp="1"/>
          </p:cNvSpPr>
          <p:nvPr>
            <p:ph type="body" idx="1"/>
          </p:nvPr>
        </p:nvSpPr>
        <p:spPr>
          <a:xfrm>
            <a:off x="2084711" y="10490146"/>
            <a:ext cx="12803803" cy="5141058"/>
          </a:xfrm>
        </p:spPr>
        <p:txBody>
          <a:bodyPr anchor="b"/>
          <a:lstStyle>
            <a:lvl1pPr marL="0" indent="0">
              <a:buNone/>
              <a:defRPr sz="7944" b="1"/>
            </a:lvl1pPr>
            <a:lvl2pPr marL="1513286" indent="0">
              <a:buNone/>
              <a:defRPr sz="6620" b="1"/>
            </a:lvl2pPr>
            <a:lvl3pPr marL="3026573" indent="0">
              <a:buNone/>
              <a:defRPr sz="5958" b="1"/>
            </a:lvl3pPr>
            <a:lvl4pPr marL="4539859" indent="0">
              <a:buNone/>
              <a:defRPr sz="5296" b="1"/>
            </a:lvl4pPr>
            <a:lvl5pPr marL="6053145" indent="0">
              <a:buNone/>
              <a:defRPr sz="5296" b="1"/>
            </a:lvl5pPr>
            <a:lvl6pPr marL="7566431" indent="0">
              <a:buNone/>
              <a:defRPr sz="5296" b="1"/>
            </a:lvl6pPr>
            <a:lvl7pPr marL="9079718" indent="0">
              <a:buNone/>
              <a:defRPr sz="5296" b="1"/>
            </a:lvl7pPr>
            <a:lvl8pPr marL="10593004" indent="0">
              <a:buNone/>
              <a:defRPr sz="5296" b="1"/>
            </a:lvl8pPr>
            <a:lvl9pPr marL="12106290"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711" y="15631204"/>
            <a:ext cx="12803803" cy="229911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322006" y="10490146"/>
            <a:ext cx="12866859" cy="5141058"/>
          </a:xfrm>
        </p:spPr>
        <p:txBody>
          <a:bodyPr anchor="b"/>
          <a:lstStyle>
            <a:lvl1pPr marL="0" indent="0">
              <a:buNone/>
              <a:defRPr sz="7944" b="1"/>
            </a:lvl1pPr>
            <a:lvl2pPr marL="1513286" indent="0">
              <a:buNone/>
              <a:defRPr sz="6620" b="1"/>
            </a:lvl2pPr>
            <a:lvl3pPr marL="3026573" indent="0">
              <a:buNone/>
              <a:defRPr sz="5958" b="1"/>
            </a:lvl3pPr>
            <a:lvl4pPr marL="4539859" indent="0">
              <a:buNone/>
              <a:defRPr sz="5296" b="1"/>
            </a:lvl4pPr>
            <a:lvl5pPr marL="6053145" indent="0">
              <a:buNone/>
              <a:defRPr sz="5296" b="1"/>
            </a:lvl5pPr>
            <a:lvl6pPr marL="7566431" indent="0">
              <a:buNone/>
              <a:defRPr sz="5296" b="1"/>
            </a:lvl6pPr>
            <a:lvl7pPr marL="9079718" indent="0">
              <a:buNone/>
              <a:defRPr sz="5296" b="1"/>
            </a:lvl7pPr>
            <a:lvl8pPr marL="10593004" indent="0">
              <a:buNone/>
              <a:defRPr sz="5296" b="1"/>
            </a:lvl8pPr>
            <a:lvl9pPr marL="12106290"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006" y="15631204"/>
            <a:ext cx="12866859" cy="229911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749168-CCE8-478B-8BCF-22095EF9332E}" type="datetimeFigureOut">
              <a:rPr lang="en-CA" smtClean="0"/>
              <a:t>2024-06-14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3128017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749168-CCE8-478B-8BCF-22095EF9332E}" type="datetimeFigureOut">
              <a:rPr lang="en-CA" smtClean="0"/>
              <a:t>2024-06-14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199167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49168-CCE8-478B-8BCF-22095EF9332E}" type="datetimeFigureOut">
              <a:rPr lang="en-CA" smtClean="0"/>
              <a:t>2024-06-14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10687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708" y="2852843"/>
            <a:ext cx="9761472" cy="9984952"/>
          </a:xfrm>
        </p:spPr>
        <p:txBody>
          <a:bodyPr anchor="b"/>
          <a:lstStyle>
            <a:lvl1pPr>
              <a:defRPr sz="10592"/>
            </a:lvl1pPr>
          </a:lstStyle>
          <a:p>
            <a:r>
              <a:rPr lang="en-US"/>
              <a:t>Click to edit Master title style</a:t>
            </a:r>
          </a:p>
        </p:txBody>
      </p:sp>
      <p:sp>
        <p:nvSpPr>
          <p:cNvPr id="3" name="Content Placeholder 2"/>
          <p:cNvSpPr>
            <a:spLocks noGrp="1"/>
          </p:cNvSpPr>
          <p:nvPr>
            <p:ph idx="1"/>
          </p:nvPr>
        </p:nvSpPr>
        <p:spPr>
          <a:xfrm>
            <a:off x="12866859" y="6161359"/>
            <a:ext cx="15322005" cy="30410517"/>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084708" y="12837795"/>
            <a:ext cx="9761472" cy="23783603"/>
          </a:xfrm>
        </p:spPr>
        <p:txBody>
          <a:bodyPr/>
          <a:lstStyle>
            <a:lvl1pPr marL="0" indent="0">
              <a:buNone/>
              <a:defRPr sz="5296"/>
            </a:lvl1pPr>
            <a:lvl2pPr marL="1513286" indent="0">
              <a:buNone/>
              <a:defRPr sz="4634"/>
            </a:lvl2pPr>
            <a:lvl3pPr marL="3026573" indent="0">
              <a:buNone/>
              <a:defRPr sz="3972"/>
            </a:lvl3pPr>
            <a:lvl4pPr marL="4539859" indent="0">
              <a:buNone/>
              <a:defRPr sz="3310"/>
            </a:lvl4pPr>
            <a:lvl5pPr marL="6053145" indent="0">
              <a:buNone/>
              <a:defRPr sz="3310"/>
            </a:lvl5pPr>
            <a:lvl6pPr marL="7566431" indent="0">
              <a:buNone/>
              <a:defRPr sz="3310"/>
            </a:lvl6pPr>
            <a:lvl7pPr marL="9079718" indent="0">
              <a:buNone/>
              <a:defRPr sz="3310"/>
            </a:lvl7pPr>
            <a:lvl8pPr marL="10593004" indent="0">
              <a:buNone/>
              <a:defRPr sz="3310"/>
            </a:lvl8pPr>
            <a:lvl9pPr marL="12106290"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C3749168-CCE8-478B-8BCF-22095EF9332E}" type="datetimeFigureOut">
              <a:rPr lang="en-CA" smtClean="0"/>
              <a:t>2024-06-14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246180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708" y="2852843"/>
            <a:ext cx="9761472" cy="9984952"/>
          </a:xfrm>
        </p:spPr>
        <p:txBody>
          <a:bodyPr anchor="b"/>
          <a:lstStyle>
            <a:lvl1pPr>
              <a:defRPr sz="10592"/>
            </a:lvl1pPr>
          </a:lstStyle>
          <a:p>
            <a:r>
              <a:rPr lang="en-US"/>
              <a:t>Click to edit Master title style</a:t>
            </a:r>
          </a:p>
        </p:txBody>
      </p:sp>
      <p:sp>
        <p:nvSpPr>
          <p:cNvPr id="3" name="Picture Placeholder 2"/>
          <p:cNvSpPr>
            <a:spLocks noGrp="1" noChangeAspect="1"/>
          </p:cNvSpPr>
          <p:nvPr>
            <p:ph type="pic" idx="1"/>
          </p:nvPr>
        </p:nvSpPr>
        <p:spPr>
          <a:xfrm>
            <a:off x="12866859" y="6161359"/>
            <a:ext cx="15322005" cy="30410517"/>
          </a:xfrm>
        </p:spPr>
        <p:txBody>
          <a:bodyPr anchor="t"/>
          <a:lstStyle>
            <a:lvl1pPr marL="0" indent="0">
              <a:buNone/>
              <a:defRPr sz="10592"/>
            </a:lvl1pPr>
            <a:lvl2pPr marL="1513286" indent="0">
              <a:buNone/>
              <a:defRPr sz="9268"/>
            </a:lvl2pPr>
            <a:lvl3pPr marL="3026573" indent="0">
              <a:buNone/>
              <a:defRPr sz="7944"/>
            </a:lvl3pPr>
            <a:lvl4pPr marL="4539859" indent="0">
              <a:buNone/>
              <a:defRPr sz="6620"/>
            </a:lvl4pPr>
            <a:lvl5pPr marL="6053145" indent="0">
              <a:buNone/>
              <a:defRPr sz="6620"/>
            </a:lvl5pPr>
            <a:lvl6pPr marL="7566431" indent="0">
              <a:buNone/>
              <a:defRPr sz="6620"/>
            </a:lvl6pPr>
            <a:lvl7pPr marL="9079718" indent="0">
              <a:buNone/>
              <a:defRPr sz="6620"/>
            </a:lvl7pPr>
            <a:lvl8pPr marL="10593004" indent="0">
              <a:buNone/>
              <a:defRPr sz="6620"/>
            </a:lvl8pPr>
            <a:lvl9pPr marL="12106290" indent="0">
              <a:buNone/>
              <a:defRPr sz="6620"/>
            </a:lvl9pPr>
          </a:lstStyle>
          <a:p>
            <a:r>
              <a:rPr lang="en-US"/>
              <a:t>Click icon to add picture</a:t>
            </a:r>
          </a:p>
        </p:txBody>
      </p:sp>
      <p:sp>
        <p:nvSpPr>
          <p:cNvPr id="4" name="Text Placeholder 3"/>
          <p:cNvSpPr>
            <a:spLocks noGrp="1"/>
          </p:cNvSpPr>
          <p:nvPr>
            <p:ph type="body" sz="half" idx="2"/>
          </p:nvPr>
        </p:nvSpPr>
        <p:spPr>
          <a:xfrm>
            <a:off x="2084708" y="12837795"/>
            <a:ext cx="9761472" cy="23783603"/>
          </a:xfrm>
        </p:spPr>
        <p:txBody>
          <a:bodyPr/>
          <a:lstStyle>
            <a:lvl1pPr marL="0" indent="0">
              <a:buNone/>
              <a:defRPr sz="5296"/>
            </a:lvl1pPr>
            <a:lvl2pPr marL="1513286" indent="0">
              <a:buNone/>
              <a:defRPr sz="4634"/>
            </a:lvl2pPr>
            <a:lvl3pPr marL="3026573" indent="0">
              <a:buNone/>
              <a:defRPr sz="3972"/>
            </a:lvl3pPr>
            <a:lvl4pPr marL="4539859" indent="0">
              <a:buNone/>
              <a:defRPr sz="3310"/>
            </a:lvl4pPr>
            <a:lvl5pPr marL="6053145" indent="0">
              <a:buNone/>
              <a:defRPr sz="3310"/>
            </a:lvl5pPr>
            <a:lvl6pPr marL="7566431" indent="0">
              <a:buNone/>
              <a:defRPr sz="3310"/>
            </a:lvl6pPr>
            <a:lvl7pPr marL="9079718" indent="0">
              <a:buNone/>
              <a:defRPr sz="3310"/>
            </a:lvl7pPr>
            <a:lvl8pPr marL="10593004" indent="0">
              <a:buNone/>
              <a:defRPr sz="3310"/>
            </a:lvl8pPr>
            <a:lvl9pPr marL="12106290"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C3749168-CCE8-478B-8BCF-22095EF9332E}" type="datetimeFigureOut">
              <a:rPr lang="en-CA" smtClean="0"/>
              <a:t>2024-06-14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217611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749168-CCE8-478B-8BCF-22095EF9332E}" type="datetimeFigureOut">
              <a:rPr lang="en-CA" smtClean="0"/>
              <a:t>2024-06-14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3890756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58885" y="2278312"/>
            <a:ext cx="6526039" cy="362647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80768" y="2278312"/>
            <a:ext cx="19199796" cy="362647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749168-CCE8-478B-8BCF-22095EF9332E}" type="datetimeFigureOut">
              <a:rPr lang="en-CA" smtClean="0"/>
              <a:t>2024-06-14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C00DAF-8279-453C-B8D5-548C201869E8}" type="slidenum">
              <a:rPr lang="en-CA" smtClean="0"/>
              <a:t>‹#›</a:t>
            </a:fld>
            <a:endParaRPr lang="en-CA"/>
          </a:p>
        </p:txBody>
      </p:sp>
    </p:spTree>
    <p:extLst>
      <p:ext uri="{BB962C8B-B14F-4D97-AF65-F5344CB8AC3E}">
        <p14:creationId xmlns:p14="http://schemas.microsoft.com/office/powerpoint/2010/main" val="1649238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766" y="2278322"/>
            <a:ext cx="26104156" cy="827126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080766" y="11391562"/>
            <a:ext cx="26104156" cy="271515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080766" y="39662456"/>
            <a:ext cx="6809780" cy="2278312"/>
          </a:xfrm>
          <a:prstGeom prst="rect">
            <a:avLst/>
          </a:prstGeom>
        </p:spPr>
        <p:txBody>
          <a:bodyPr vert="horz" lIns="91440" tIns="45720" rIns="91440" bIns="45720" rtlCol="0" anchor="ctr"/>
          <a:lstStyle>
            <a:lvl1pPr algn="l">
              <a:defRPr sz="3972">
                <a:solidFill>
                  <a:schemeClr val="tx1">
                    <a:tint val="75000"/>
                  </a:schemeClr>
                </a:solidFill>
              </a:defRPr>
            </a:lvl1pPr>
          </a:lstStyle>
          <a:p>
            <a:fld id="{C3749168-CCE8-478B-8BCF-22095EF9332E}" type="datetimeFigureOut">
              <a:rPr lang="en-CA" smtClean="0"/>
              <a:t>2024-06-14</a:t>
            </a:fld>
            <a:endParaRPr lang="en-CA"/>
          </a:p>
        </p:txBody>
      </p:sp>
      <p:sp>
        <p:nvSpPr>
          <p:cNvPr id="5" name="Footer Placeholder 4"/>
          <p:cNvSpPr>
            <a:spLocks noGrp="1"/>
          </p:cNvSpPr>
          <p:nvPr>
            <p:ph type="ftr" sz="quarter" idx="3"/>
          </p:nvPr>
        </p:nvSpPr>
        <p:spPr>
          <a:xfrm>
            <a:off x="10025509" y="39662456"/>
            <a:ext cx="10214670" cy="2278312"/>
          </a:xfrm>
          <a:prstGeom prst="rect">
            <a:avLst/>
          </a:prstGeom>
        </p:spPr>
        <p:txBody>
          <a:bodyPr vert="horz" lIns="91440" tIns="45720" rIns="91440" bIns="45720" rtlCol="0" anchor="ctr"/>
          <a:lstStyle>
            <a:lvl1pPr algn="ctr">
              <a:defRPr sz="3972">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21375142" y="39662456"/>
            <a:ext cx="6809780" cy="2278312"/>
          </a:xfrm>
          <a:prstGeom prst="rect">
            <a:avLst/>
          </a:prstGeom>
        </p:spPr>
        <p:txBody>
          <a:bodyPr vert="horz" lIns="91440" tIns="45720" rIns="91440" bIns="45720" rtlCol="0" anchor="ctr"/>
          <a:lstStyle>
            <a:lvl1pPr algn="r">
              <a:defRPr sz="3972">
                <a:solidFill>
                  <a:schemeClr val="tx1">
                    <a:tint val="75000"/>
                  </a:schemeClr>
                </a:solidFill>
              </a:defRPr>
            </a:lvl1pPr>
          </a:lstStyle>
          <a:p>
            <a:fld id="{FFC00DAF-8279-453C-B8D5-548C201869E8}" type="slidenum">
              <a:rPr lang="en-CA" smtClean="0"/>
              <a:t>‹#›</a:t>
            </a:fld>
            <a:endParaRPr lang="en-CA"/>
          </a:p>
        </p:txBody>
      </p:sp>
    </p:spTree>
    <p:extLst>
      <p:ext uri="{BB962C8B-B14F-4D97-AF65-F5344CB8AC3E}">
        <p14:creationId xmlns:p14="http://schemas.microsoft.com/office/powerpoint/2010/main" val="1428379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6573"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43" indent="-756643" algn="l" defTabSz="3026573"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69929" indent="-756643" algn="l" defTabSz="3026573"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216" indent="-756643" algn="l" defTabSz="3026573"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502"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09788"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075"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361"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49647"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2933" indent="-756643" algn="l" defTabSz="3026573"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573" rtl="0" eaLnBrk="1" latinLnBrk="0" hangingPunct="1">
        <a:defRPr sz="5958" kern="1200">
          <a:solidFill>
            <a:schemeClr val="tx1"/>
          </a:solidFill>
          <a:latin typeface="+mn-lt"/>
          <a:ea typeface="+mn-ea"/>
          <a:cs typeface="+mn-cs"/>
        </a:defRPr>
      </a:lvl1pPr>
      <a:lvl2pPr marL="1513286" algn="l" defTabSz="3026573" rtl="0" eaLnBrk="1" latinLnBrk="0" hangingPunct="1">
        <a:defRPr sz="5958" kern="1200">
          <a:solidFill>
            <a:schemeClr val="tx1"/>
          </a:solidFill>
          <a:latin typeface="+mn-lt"/>
          <a:ea typeface="+mn-ea"/>
          <a:cs typeface="+mn-cs"/>
        </a:defRPr>
      </a:lvl2pPr>
      <a:lvl3pPr marL="3026573" algn="l" defTabSz="3026573" rtl="0" eaLnBrk="1" latinLnBrk="0" hangingPunct="1">
        <a:defRPr sz="5958" kern="1200">
          <a:solidFill>
            <a:schemeClr val="tx1"/>
          </a:solidFill>
          <a:latin typeface="+mn-lt"/>
          <a:ea typeface="+mn-ea"/>
          <a:cs typeface="+mn-cs"/>
        </a:defRPr>
      </a:lvl3pPr>
      <a:lvl4pPr marL="4539859" algn="l" defTabSz="3026573" rtl="0" eaLnBrk="1" latinLnBrk="0" hangingPunct="1">
        <a:defRPr sz="5958" kern="1200">
          <a:solidFill>
            <a:schemeClr val="tx1"/>
          </a:solidFill>
          <a:latin typeface="+mn-lt"/>
          <a:ea typeface="+mn-ea"/>
          <a:cs typeface="+mn-cs"/>
        </a:defRPr>
      </a:lvl4pPr>
      <a:lvl5pPr marL="6053145" algn="l" defTabSz="3026573" rtl="0" eaLnBrk="1" latinLnBrk="0" hangingPunct="1">
        <a:defRPr sz="5958" kern="1200">
          <a:solidFill>
            <a:schemeClr val="tx1"/>
          </a:solidFill>
          <a:latin typeface="+mn-lt"/>
          <a:ea typeface="+mn-ea"/>
          <a:cs typeface="+mn-cs"/>
        </a:defRPr>
      </a:lvl5pPr>
      <a:lvl6pPr marL="7566431" algn="l" defTabSz="3026573" rtl="0" eaLnBrk="1" latinLnBrk="0" hangingPunct="1">
        <a:defRPr sz="5958" kern="1200">
          <a:solidFill>
            <a:schemeClr val="tx1"/>
          </a:solidFill>
          <a:latin typeface="+mn-lt"/>
          <a:ea typeface="+mn-ea"/>
          <a:cs typeface="+mn-cs"/>
        </a:defRPr>
      </a:lvl6pPr>
      <a:lvl7pPr marL="9079718" algn="l" defTabSz="3026573" rtl="0" eaLnBrk="1" latinLnBrk="0" hangingPunct="1">
        <a:defRPr sz="5958" kern="1200">
          <a:solidFill>
            <a:schemeClr val="tx1"/>
          </a:solidFill>
          <a:latin typeface="+mn-lt"/>
          <a:ea typeface="+mn-ea"/>
          <a:cs typeface="+mn-cs"/>
        </a:defRPr>
      </a:lvl7pPr>
      <a:lvl8pPr marL="10593004" algn="l" defTabSz="3026573" rtl="0" eaLnBrk="1" latinLnBrk="0" hangingPunct="1">
        <a:defRPr sz="5958" kern="1200">
          <a:solidFill>
            <a:schemeClr val="tx1"/>
          </a:solidFill>
          <a:latin typeface="+mn-lt"/>
          <a:ea typeface="+mn-ea"/>
          <a:cs typeface="+mn-cs"/>
        </a:defRPr>
      </a:lvl8pPr>
      <a:lvl9pPr marL="12106290" algn="l" defTabSz="3026573"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image" Target="../media/image10.jpeg"/><Relationship Id="rId26" Type="http://schemas.openxmlformats.org/officeDocument/2006/relationships/image" Target="../media/image18.png"/><Relationship Id="rId39" Type="http://schemas.openxmlformats.org/officeDocument/2006/relationships/image" Target="../media/image59.png"/><Relationship Id="rId21" Type="http://schemas.openxmlformats.org/officeDocument/2006/relationships/image" Target="../media/image13.png"/><Relationship Id="rId34" Type="http://schemas.openxmlformats.org/officeDocument/2006/relationships/image" Target="../media/image26.png"/><Relationship Id="rId7" Type="http://schemas.openxmlformats.org/officeDocument/2006/relationships/image" Target="../media/image5.svg"/><Relationship Id="rId12" Type="http://schemas.openxmlformats.org/officeDocument/2006/relationships/image" Target="../media/image6.jpeg"/><Relationship Id="rId17" Type="http://schemas.openxmlformats.org/officeDocument/2006/relationships/image" Target="../media/image9.jpeg"/><Relationship Id="rId25" Type="http://schemas.openxmlformats.org/officeDocument/2006/relationships/image" Target="../media/image17.jpeg"/><Relationship Id="rId33" Type="http://schemas.openxmlformats.org/officeDocument/2006/relationships/image" Target="../media/image25.png"/><Relationship Id="rId38" Type="http://schemas.openxmlformats.org/officeDocument/2006/relationships/image" Target="../media/image64.png"/><Relationship Id="rId2" Type="http://schemas.openxmlformats.org/officeDocument/2006/relationships/notesSlide" Target="../notesSlides/notesSlide1.xml"/><Relationship Id="rId16" Type="http://schemas.openxmlformats.org/officeDocument/2006/relationships/image" Target="../media/image8.jpeg"/><Relationship Id="rId20" Type="http://schemas.openxmlformats.org/officeDocument/2006/relationships/image" Target="../media/image12.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44.png"/><Relationship Id="rId24" Type="http://schemas.openxmlformats.org/officeDocument/2006/relationships/image" Target="../media/image16.png"/><Relationship Id="rId32" Type="http://schemas.openxmlformats.org/officeDocument/2006/relationships/image" Target="../media/image24.png"/><Relationship Id="rId37" Type="http://schemas.openxmlformats.org/officeDocument/2006/relationships/image" Target="../media/image58.png"/><Relationship Id="rId40" Type="http://schemas.openxmlformats.org/officeDocument/2006/relationships/image" Target="../media/image28.jpeg"/><Relationship Id="rId5" Type="http://schemas.openxmlformats.org/officeDocument/2006/relationships/image" Target="../media/image3.png"/><Relationship Id="rId15" Type="http://schemas.openxmlformats.org/officeDocument/2006/relationships/image" Target="../media/image7.jpeg"/><Relationship Id="rId23" Type="http://schemas.openxmlformats.org/officeDocument/2006/relationships/image" Target="../media/image15.jpeg"/><Relationship Id="rId28" Type="http://schemas.openxmlformats.org/officeDocument/2006/relationships/image" Target="../media/image20.png"/><Relationship Id="rId10" Type="http://schemas.openxmlformats.org/officeDocument/2006/relationships/image" Target="../media/image43.png"/><Relationship Id="rId19" Type="http://schemas.openxmlformats.org/officeDocument/2006/relationships/image" Target="../media/image11.png"/><Relationship Id="rId31"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14.png"/><Relationship Id="rId27" Type="http://schemas.openxmlformats.org/officeDocument/2006/relationships/image" Target="../media/image19.png"/><Relationship Id="rId30" Type="http://schemas.openxmlformats.org/officeDocument/2006/relationships/image" Target="../media/image22.png"/><Relationship Id="rId35" Type="http://schemas.openxmlformats.org/officeDocument/2006/relationships/image" Target="../media/image27.png"/><Relationship Id="rId8" Type="http://schemas.openxmlformats.org/officeDocument/2006/relationships/image" Target="../media/image41.png"/><Relationship Id="rId3" Type="http://schemas.openxmlformats.org/officeDocument/2006/relationships/image" Target="../media/image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472D48-5DDD-7DEF-49D6-B178127CA0AC}"/>
              </a:ext>
            </a:extLst>
          </p:cNvPr>
          <p:cNvSpPr txBox="1"/>
          <p:nvPr/>
        </p:nvSpPr>
        <p:spPr>
          <a:xfrm>
            <a:off x="5827257" y="206846"/>
            <a:ext cx="18611175" cy="1938992"/>
          </a:xfrm>
          <a:prstGeom prst="rect">
            <a:avLst/>
          </a:prstGeom>
          <a:noFill/>
        </p:spPr>
        <p:txBody>
          <a:bodyPr wrap="square" rtlCol="0">
            <a:spAutoFit/>
          </a:bodyPr>
          <a:lstStyle/>
          <a:p>
            <a:pPr algn="ctr"/>
            <a:r>
              <a:rPr lang="en-CA" sz="5800" b="1" dirty="0">
                <a:solidFill>
                  <a:srgbClr val="000000"/>
                </a:solidFill>
                <a:latin typeface="Arial Black" panose="020B0A04020102020204" pitchFamily="34" charset="0"/>
                <a:cs typeface="Arial" panose="020B0604020202020204" pitchFamily="34" charset="0"/>
              </a:rPr>
              <a:t> Learning and Stabilizing Memories in Noisy Recurrent Spiking Neural Networks </a:t>
            </a:r>
            <a:endParaRPr lang="en-CA" sz="5800" dirty="0">
              <a:solidFill>
                <a:srgbClr val="000000"/>
              </a:solidFill>
              <a:latin typeface="Arial Black" panose="020B0A04020102020204" pitchFamily="34" charset="0"/>
              <a:cs typeface="Arial" panose="020B0604020202020204" pitchFamily="34" charset="0"/>
            </a:endParaRPr>
          </a:p>
        </p:txBody>
      </p:sp>
      <p:pic>
        <p:nvPicPr>
          <p:cNvPr id="6" name="Picture 5" descr="A black background with white dots&#10;&#10;Description automatically generated">
            <a:extLst>
              <a:ext uri="{FF2B5EF4-FFF2-40B4-BE49-F238E27FC236}">
                <a16:creationId xmlns:a16="http://schemas.microsoft.com/office/drawing/2014/main" id="{CAE0E96A-0EE2-7EBC-7176-2B1972E35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77107" y="443435"/>
            <a:ext cx="4182374" cy="2182107"/>
          </a:xfrm>
          <a:prstGeom prst="rect">
            <a:avLst/>
          </a:prstGeom>
        </p:spPr>
      </p:pic>
      <p:sp>
        <p:nvSpPr>
          <p:cNvPr id="10" name="TextBox 9">
            <a:extLst>
              <a:ext uri="{FF2B5EF4-FFF2-40B4-BE49-F238E27FC236}">
                <a16:creationId xmlns:a16="http://schemas.microsoft.com/office/drawing/2014/main" id="{11442532-053D-989E-C3EF-29040220407F}"/>
              </a:ext>
            </a:extLst>
          </p:cNvPr>
          <p:cNvSpPr txBox="1"/>
          <p:nvPr/>
        </p:nvSpPr>
        <p:spPr>
          <a:xfrm>
            <a:off x="8746070" y="2283397"/>
            <a:ext cx="12773549" cy="1877437"/>
          </a:xfrm>
          <a:prstGeom prst="rect">
            <a:avLst/>
          </a:prstGeom>
          <a:noFill/>
        </p:spPr>
        <p:txBody>
          <a:bodyPr wrap="square" rtlCol="0">
            <a:spAutoFit/>
          </a:bodyPr>
          <a:lstStyle/>
          <a:p>
            <a:pPr algn="ctr"/>
            <a:r>
              <a:rPr lang="en-CA" sz="4400" b="1" u="sng" dirty="0">
                <a:latin typeface="Arial" panose="020B0604020202020204" pitchFamily="34" charset="0"/>
                <a:cs typeface="Arial" panose="020B0604020202020204" pitchFamily="34" charset="0"/>
              </a:rPr>
              <a:t>Arshia Razavi</a:t>
            </a:r>
            <a:r>
              <a:rPr lang="en-CA" sz="4400" b="1" dirty="0">
                <a:latin typeface="Arial" panose="020B0604020202020204" pitchFamily="34" charset="0"/>
                <a:cs typeface="Arial" panose="020B0604020202020204" pitchFamily="34" charset="0"/>
              </a:rPr>
              <a:t>, Javier G. Orlandi</a:t>
            </a:r>
          </a:p>
          <a:p>
            <a:pPr algn="ctr"/>
            <a:r>
              <a:rPr lang="en-CA" sz="3600" dirty="0">
                <a:latin typeface="Arial" panose="020B0604020202020204" pitchFamily="34" charset="0"/>
                <a:cs typeface="Arial" panose="020B0604020202020204" pitchFamily="34" charset="0"/>
              </a:rPr>
              <a:t>Department of Physics and Astronomy, University of Calgary</a:t>
            </a:r>
          </a:p>
          <a:p>
            <a:pPr algn="ctr"/>
            <a:r>
              <a:rPr lang="en-CA" sz="3600" dirty="0">
                <a:latin typeface="Arial" panose="020B0604020202020204" pitchFamily="34" charset="0"/>
                <a:cs typeface="Arial" panose="020B0604020202020204" pitchFamily="34" charset="0"/>
              </a:rPr>
              <a:t>Hotchkiss Brain Institute, University of Calgary	</a:t>
            </a:r>
            <a:endParaRPr lang="en-CA" sz="4400" dirty="0">
              <a:latin typeface="Arial" panose="020B0604020202020204" pitchFamily="34" charset="0"/>
              <a:cs typeface="Arial" panose="020B0604020202020204" pitchFamily="34" charset="0"/>
            </a:endParaRP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4B99B995-FE4D-2058-69B9-D59BAD1006B5}"/>
              </a:ext>
            </a:extLst>
          </p:cNvPr>
          <p:cNvPicPr>
            <a:picLocks noChangeAspect="1"/>
          </p:cNvPicPr>
          <p:nvPr/>
        </p:nvPicPr>
        <p:blipFill rotWithShape="1">
          <a:blip r:embed="rId4">
            <a:extLst>
              <a:ext uri="{28A0092B-C50C-407E-A947-70E740481C1C}">
                <a14:useLocalDpi xmlns:a14="http://schemas.microsoft.com/office/drawing/2010/main" val="0"/>
              </a:ext>
            </a:extLst>
          </a:blip>
          <a:srcRect l="7611" t="17331" r="7800" b="10317"/>
          <a:stretch/>
        </p:blipFill>
        <p:spPr>
          <a:xfrm>
            <a:off x="886881" y="255214"/>
            <a:ext cx="4730731" cy="1391399"/>
          </a:xfrm>
          <a:prstGeom prst="rect">
            <a:avLst/>
          </a:prstGeom>
        </p:spPr>
      </p:pic>
      <p:pic>
        <p:nvPicPr>
          <p:cNvPr id="12" name="Picture 11" descr="A black background with a black square&#10;&#10;Description automatically generated with medium confidence">
            <a:extLst>
              <a:ext uri="{FF2B5EF4-FFF2-40B4-BE49-F238E27FC236}">
                <a16:creationId xmlns:a16="http://schemas.microsoft.com/office/drawing/2014/main" id="{54B7C929-26E2-7BDF-2EAD-DB4550D523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5754" y="1833066"/>
            <a:ext cx="4555393" cy="852005"/>
          </a:xfrm>
          <a:prstGeom prst="rect">
            <a:avLst/>
          </a:prstGeom>
        </p:spPr>
      </p:pic>
      <p:sp>
        <p:nvSpPr>
          <p:cNvPr id="14" name="Rectangle 13">
            <a:extLst>
              <a:ext uri="{FF2B5EF4-FFF2-40B4-BE49-F238E27FC236}">
                <a16:creationId xmlns:a16="http://schemas.microsoft.com/office/drawing/2014/main" id="{2D0501E6-4925-BAEC-2F6E-0221C1CCBEBB}"/>
              </a:ext>
            </a:extLst>
          </p:cNvPr>
          <p:cNvSpPr/>
          <p:nvPr/>
        </p:nvSpPr>
        <p:spPr>
          <a:xfrm>
            <a:off x="914137" y="4319842"/>
            <a:ext cx="9143660" cy="8866192"/>
          </a:xfrm>
          <a:prstGeom prst="rect">
            <a:avLst/>
          </a:prstGeom>
          <a:noFill/>
          <a:ln w="76200">
            <a:solidFill>
              <a:schemeClr val="accent4"/>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15" name="Rectangle 14">
            <a:extLst>
              <a:ext uri="{FF2B5EF4-FFF2-40B4-BE49-F238E27FC236}">
                <a16:creationId xmlns:a16="http://schemas.microsoft.com/office/drawing/2014/main" id="{7C2C3D6C-1960-C214-90F2-DFAC3C991C5F}"/>
              </a:ext>
            </a:extLst>
          </p:cNvPr>
          <p:cNvSpPr/>
          <p:nvPr/>
        </p:nvSpPr>
        <p:spPr>
          <a:xfrm>
            <a:off x="914137" y="4338778"/>
            <a:ext cx="9143660" cy="504427"/>
          </a:xfrm>
          <a:prstGeom prst="rect">
            <a:avLst/>
          </a:prstGeom>
          <a:solidFill>
            <a:schemeClr val="accent4"/>
          </a:solidFill>
          <a:ln>
            <a:solidFill>
              <a:schemeClr val="accent4"/>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Introduction</a:t>
            </a:r>
          </a:p>
        </p:txBody>
      </p:sp>
      <p:sp>
        <p:nvSpPr>
          <p:cNvPr id="78" name="Rectangle 77">
            <a:extLst>
              <a:ext uri="{FF2B5EF4-FFF2-40B4-BE49-F238E27FC236}">
                <a16:creationId xmlns:a16="http://schemas.microsoft.com/office/drawing/2014/main" id="{843D6F9F-F99B-69F8-8819-68827AF81F12}"/>
              </a:ext>
            </a:extLst>
          </p:cNvPr>
          <p:cNvSpPr/>
          <p:nvPr/>
        </p:nvSpPr>
        <p:spPr>
          <a:xfrm>
            <a:off x="914137" y="13470260"/>
            <a:ext cx="9143660" cy="28797049"/>
          </a:xfrm>
          <a:prstGeom prst="rect">
            <a:avLst/>
          </a:prstGeom>
          <a:noFill/>
          <a:ln w="76200">
            <a:solidFill>
              <a:schemeClr val="accent6"/>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79" name="Rectangle 78">
            <a:extLst>
              <a:ext uri="{FF2B5EF4-FFF2-40B4-BE49-F238E27FC236}">
                <a16:creationId xmlns:a16="http://schemas.microsoft.com/office/drawing/2014/main" id="{1F6C4B60-9576-180B-B95F-BC01B01DA614}"/>
              </a:ext>
            </a:extLst>
          </p:cNvPr>
          <p:cNvSpPr/>
          <p:nvPr/>
        </p:nvSpPr>
        <p:spPr>
          <a:xfrm>
            <a:off x="914137" y="13470260"/>
            <a:ext cx="9143660" cy="504427"/>
          </a:xfrm>
          <a:prstGeom prst="rect">
            <a:avLst/>
          </a:prstGeom>
          <a:solidFill>
            <a:schemeClr val="accent6"/>
          </a:solidFill>
          <a:ln>
            <a:solidFill>
              <a:schemeClr val="accent6"/>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Methodology</a:t>
            </a:r>
          </a:p>
        </p:txBody>
      </p:sp>
      <p:sp>
        <p:nvSpPr>
          <p:cNvPr id="80" name="Rectangle 79">
            <a:extLst>
              <a:ext uri="{FF2B5EF4-FFF2-40B4-BE49-F238E27FC236}">
                <a16:creationId xmlns:a16="http://schemas.microsoft.com/office/drawing/2014/main" id="{86F2C452-06C3-5EB3-D52D-73786A4FD28E}"/>
              </a:ext>
            </a:extLst>
          </p:cNvPr>
          <p:cNvSpPr/>
          <p:nvPr/>
        </p:nvSpPr>
        <p:spPr>
          <a:xfrm>
            <a:off x="10514979" y="4319842"/>
            <a:ext cx="9143660" cy="37947468"/>
          </a:xfrm>
          <a:prstGeom prst="rect">
            <a:avLst/>
          </a:prstGeom>
          <a:noFill/>
          <a:ln w="76200">
            <a:solidFill>
              <a:schemeClr val="accent5"/>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81" name="Rectangle 80">
            <a:extLst>
              <a:ext uri="{FF2B5EF4-FFF2-40B4-BE49-F238E27FC236}">
                <a16:creationId xmlns:a16="http://schemas.microsoft.com/office/drawing/2014/main" id="{56CF1EA4-1942-2419-3EA9-21021F5F9A4C}"/>
              </a:ext>
            </a:extLst>
          </p:cNvPr>
          <p:cNvSpPr/>
          <p:nvPr/>
        </p:nvSpPr>
        <p:spPr>
          <a:xfrm>
            <a:off x="10514979" y="4338778"/>
            <a:ext cx="9143660" cy="504427"/>
          </a:xfrm>
          <a:prstGeom prst="rect">
            <a:avLst/>
          </a:prstGeom>
          <a:solidFill>
            <a:schemeClr val="accent5"/>
          </a:solidFill>
        </p:spPr>
        <p:style>
          <a:lnRef idx="1">
            <a:schemeClr val="accent5"/>
          </a:lnRef>
          <a:fillRef idx="2">
            <a:schemeClr val="accent5"/>
          </a:fillRef>
          <a:effectRef idx="1">
            <a:schemeClr val="accent5"/>
          </a:effectRef>
          <a:fontRef idx="minor">
            <a:schemeClr val="dk1"/>
          </a:fontRef>
        </p:style>
        <p:txBody>
          <a:bodyPr lIns="91440" tIns="45720" rIns="91440" bIns="45720" rtlCol="0" anchor="ctr"/>
          <a:lstStyle/>
          <a:p>
            <a:pPr algn="ctr"/>
            <a:r>
              <a:rPr lang="en-CA" sz="4000" b="1" dirty="0">
                <a:latin typeface="Arial"/>
                <a:cs typeface="Arial"/>
              </a:rPr>
              <a:t>Imprinting a Single Memory</a:t>
            </a:r>
          </a:p>
        </p:txBody>
      </p:sp>
      <p:sp>
        <p:nvSpPr>
          <p:cNvPr id="82" name="Rectangle 81">
            <a:extLst>
              <a:ext uri="{FF2B5EF4-FFF2-40B4-BE49-F238E27FC236}">
                <a16:creationId xmlns:a16="http://schemas.microsoft.com/office/drawing/2014/main" id="{1C357CF8-B9AB-0077-CD9D-58BF2EB9BB61}"/>
              </a:ext>
            </a:extLst>
          </p:cNvPr>
          <p:cNvSpPr/>
          <p:nvPr/>
        </p:nvSpPr>
        <p:spPr>
          <a:xfrm>
            <a:off x="20134874" y="16189170"/>
            <a:ext cx="9143660" cy="5308376"/>
          </a:xfrm>
          <a:prstGeom prst="rect">
            <a:avLst/>
          </a:prstGeom>
          <a:noFill/>
          <a:ln w="76200">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83" name="Rectangle 82">
            <a:extLst>
              <a:ext uri="{FF2B5EF4-FFF2-40B4-BE49-F238E27FC236}">
                <a16:creationId xmlns:a16="http://schemas.microsoft.com/office/drawing/2014/main" id="{FDEC364D-C665-AADA-5F9F-172859743580}"/>
              </a:ext>
            </a:extLst>
          </p:cNvPr>
          <p:cNvSpPr/>
          <p:nvPr/>
        </p:nvSpPr>
        <p:spPr>
          <a:xfrm>
            <a:off x="20115821" y="16189170"/>
            <a:ext cx="9143660" cy="504427"/>
          </a:xfrm>
          <a:prstGeom prst="rect">
            <a:avLst/>
          </a:prstGeom>
          <a:solidFill>
            <a:schemeClr val="accent3"/>
          </a:solidFill>
          <a:ln w="6350">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Conclusions</a:t>
            </a:r>
          </a:p>
        </p:txBody>
      </p:sp>
      <p:sp>
        <p:nvSpPr>
          <p:cNvPr id="84" name="Rectangle 83">
            <a:extLst>
              <a:ext uri="{FF2B5EF4-FFF2-40B4-BE49-F238E27FC236}">
                <a16:creationId xmlns:a16="http://schemas.microsoft.com/office/drawing/2014/main" id="{B160508C-1EA0-7CAE-7C69-BF931569B499}"/>
              </a:ext>
            </a:extLst>
          </p:cNvPr>
          <p:cNvSpPr/>
          <p:nvPr/>
        </p:nvSpPr>
        <p:spPr>
          <a:xfrm>
            <a:off x="20115822" y="21800074"/>
            <a:ext cx="9143660" cy="8931616"/>
          </a:xfrm>
          <a:prstGeom prst="rect">
            <a:avLst/>
          </a:prstGeom>
          <a:noFill/>
          <a:ln w="76200">
            <a:solidFill>
              <a:srgbClr val="FF7E79"/>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262"/>
          </a:p>
        </p:txBody>
      </p:sp>
      <p:sp>
        <p:nvSpPr>
          <p:cNvPr id="85" name="Rectangle 84">
            <a:extLst>
              <a:ext uri="{FF2B5EF4-FFF2-40B4-BE49-F238E27FC236}">
                <a16:creationId xmlns:a16="http://schemas.microsoft.com/office/drawing/2014/main" id="{010F97F3-3F2D-B8BA-BA0C-96481473D4C6}"/>
              </a:ext>
            </a:extLst>
          </p:cNvPr>
          <p:cNvSpPr/>
          <p:nvPr/>
        </p:nvSpPr>
        <p:spPr>
          <a:xfrm>
            <a:off x="20134873" y="21800075"/>
            <a:ext cx="9143660" cy="504427"/>
          </a:xfrm>
          <a:prstGeom prst="rect">
            <a:avLst/>
          </a:prstGeom>
          <a:solidFill>
            <a:srgbClr val="FF7E79"/>
          </a:solidFill>
          <a:ln w="6350">
            <a:noFill/>
          </a:ln>
        </p:spPr>
        <p:style>
          <a:lnRef idx="1">
            <a:schemeClr val="accent5"/>
          </a:lnRef>
          <a:fillRef idx="2">
            <a:schemeClr val="accent5"/>
          </a:fillRef>
          <a:effectRef idx="1">
            <a:schemeClr val="accent5"/>
          </a:effectRef>
          <a:fontRef idx="minor">
            <a:schemeClr val="dk1"/>
          </a:fontRef>
        </p:style>
        <p:txBody>
          <a:bodyPr lIns="91440" tIns="45720" rIns="91440" bIns="45720" rtlCol="0" anchor="ctr"/>
          <a:lstStyle/>
          <a:p>
            <a:pPr algn="ctr"/>
            <a:r>
              <a:rPr lang="en-CA" sz="4000" b="1" dirty="0">
                <a:latin typeface="Arial"/>
                <a:cs typeface="Arial"/>
              </a:rPr>
              <a:t>Future Work</a:t>
            </a:r>
            <a:endParaRPr lang="en-CA" sz="4000" b="1" dirty="0">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1D3D3391-44C1-9022-3A48-436EC79BC02E}"/>
              </a:ext>
            </a:extLst>
          </p:cNvPr>
          <p:cNvSpPr/>
          <p:nvPr/>
        </p:nvSpPr>
        <p:spPr>
          <a:xfrm>
            <a:off x="20115822" y="31082675"/>
            <a:ext cx="9143660" cy="8931617"/>
          </a:xfrm>
          <a:prstGeom prst="rect">
            <a:avLst/>
          </a:prstGeom>
          <a:noFill/>
          <a:ln w="76200">
            <a:solidFill>
              <a:srgbClr val="A162D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89" name="Rectangle 88">
            <a:extLst>
              <a:ext uri="{FF2B5EF4-FFF2-40B4-BE49-F238E27FC236}">
                <a16:creationId xmlns:a16="http://schemas.microsoft.com/office/drawing/2014/main" id="{FCC33076-D9CF-93A1-CF80-10909B0FDF8B}"/>
              </a:ext>
            </a:extLst>
          </p:cNvPr>
          <p:cNvSpPr/>
          <p:nvPr/>
        </p:nvSpPr>
        <p:spPr>
          <a:xfrm>
            <a:off x="20134873" y="31077216"/>
            <a:ext cx="9143660" cy="504427"/>
          </a:xfrm>
          <a:prstGeom prst="rect">
            <a:avLst/>
          </a:prstGeom>
          <a:solidFill>
            <a:srgbClr val="A162D0"/>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References</a:t>
            </a:r>
          </a:p>
        </p:txBody>
      </p:sp>
      <p:sp>
        <p:nvSpPr>
          <p:cNvPr id="90" name="Rectangle 89">
            <a:extLst>
              <a:ext uri="{FF2B5EF4-FFF2-40B4-BE49-F238E27FC236}">
                <a16:creationId xmlns:a16="http://schemas.microsoft.com/office/drawing/2014/main" id="{EB2A29BB-7D9C-3D3E-C948-AA40F56E8197}"/>
              </a:ext>
            </a:extLst>
          </p:cNvPr>
          <p:cNvSpPr/>
          <p:nvPr/>
        </p:nvSpPr>
        <p:spPr>
          <a:xfrm>
            <a:off x="20115822" y="40354357"/>
            <a:ext cx="9143660" cy="1912952"/>
          </a:xfrm>
          <a:prstGeom prst="rect">
            <a:avLst/>
          </a:prstGeom>
          <a:solidFill>
            <a:schemeClr val="bg1"/>
          </a:solidFill>
          <a:ln w="76200">
            <a:solidFill>
              <a:schemeClr val="accent2"/>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91" name="Rectangle 90">
            <a:extLst>
              <a:ext uri="{FF2B5EF4-FFF2-40B4-BE49-F238E27FC236}">
                <a16:creationId xmlns:a16="http://schemas.microsoft.com/office/drawing/2014/main" id="{76129877-8C0E-6921-00E0-5E42B7B39667}"/>
              </a:ext>
            </a:extLst>
          </p:cNvPr>
          <p:cNvSpPr/>
          <p:nvPr/>
        </p:nvSpPr>
        <p:spPr>
          <a:xfrm>
            <a:off x="20115822" y="40363265"/>
            <a:ext cx="9143660" cy="504427"/>
          </a:xfrm>
          <a:prstGeom prst="rect">
            <a:avLst/>
          </a:prstGeom>
          <a:solidFill>
            <a:schemeClr val="accent2"/>
          </a:solidFill>
          <a:ln>
            <a:solidFill>
              <a:schemeClr val="accent2"/>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Contact Information</a:t>
            </a:r>
          </a:p>
        </p:txBody>
      </p:sp>
      <p:sp>
        <p:nvSpPr>
          <p:cNvPr id="92" name="TextBox 91">
            <a:extLst>
              <a:ext uri="{FF2B5EF4-FFF2-40B4-BE49-F238E27FC236}">
                <a16:creationId xmlns:a16="http://schemas.microsoft.com/office/drawing/2014/main" id="{55F0E661-E02B-F828-00D6-E1EDB8FCEB1E}"/>
              </a:ext>
            </a:extLst>
          </p:cNvPr>
          <p:cNvSpPr txBox="1"/>
          <p:nvPr/>
        </p:nvSpPr>
        <p:spPr>
          <a:xfrm>
            <a:off x="1006209" y="4908920"/>
            <a:ext cx="8916166" cy="8276753"/>
          </a:xfrm>
          <a:prstGeom prst="rect">
            <a:avLst/>
          </a:prstGeom>
          <a:noFill/>
        </p:spPr>
        <p:txBody>
          <a:bodyPr wrap="square">
            <a:spAutoFit/>
          </a:bodyPr>
          <a:lstStyle/>
          <a:p>
            <a:pPr algn="just"/>
            <a:r>
              <a:rPr lang="en-CA" sz="2799" dirty="0">
                <a:solidFill>
                  <a:srgbClr val="1D1C1D"/>
                </a:solidFill>
                <a:latin typeface="Arial" panose="020B0604020202020204" pitchFamily="34" charset="0"/>
                <a:cs typeface="Arial" panose="020B0604020202020204" pitchFamily="34" charset="0"/>
              </a:rPr>
              <a:t>	How does the brain encode and stabilize a new memory or activity pattern in a noisy environment? Although current prevailing theories suggest that memories are encoded in patterns of synaptic weights within brain networks, the mechanisms by which these patterns are stabilized and reliably accessed are not well understood. Individual synapses are unreliable, and their weights and responses change over time.</a:t>
            </a:r>
          </a:p>
          <a:p>
            <a:pPr algn="just"/>
            <a:endParaRPr lang="en-CA" sz="2799" dirty="0">
              <a:solidFill>
                <a:srgbClr val="1D1C1D"/>
              </a:solidFill>
              <a:latin typeface="Arial" panose="020B0604020202020204" pitchFamily="34" charset="0"/>
              <a:cs typeface="Arial" panose="020B0604020202020204" pitchFamily="34" charset="0"/>
            </a:endParaRPr>
          </a:p>
          <a:p>
            <a:pPr algn="just"/>
            <a:r>
              <a:rPr lang="en-CA" sz="2799" dirty="0">
                <a:solidFill>
                  <a:srgbClr val="1D1C1D"/>
                </a:solidFill>
                <a:latin typeface="Arial" panose="020B0604020202020204" pitchFamily="34" charset="0"/>
                <a:cs typeface="Arial" panose="020B0604020202020204" pitchFamily="34" charset="0"/>
              </a:rPr>
              <a:t>	Recent studies suggest that network activity patterns could be stabilized in rate based neural networks via complex plasticity mechanisms. However, it is still unclear whether the same mechanisms could produce stable memories in spiking neural networks and whether these rules are biologically plausible. </a:t>
            </a:r>
          </a:p>
          <a:p>
            <a:pPr algn="just"/>
            <a:endParaRPr lang="en-CA" sz="2799" dirty="0">
              <a:solidFill>
                <a:srgbClr val="1D1C1D"/>
              </a:solidFill>
              <a:latin typeface="Arial" panose="020B0604020202020204" pitchFamily="34" charset="0"/>
              <a:cs typeface="Arial" panose="020B0604020202020204" pitchFamily="34" charset="0"/>
            </a:endParaRPr>
          </a:p>
          <a:p>
            <a:pPr algn="just"/>
            <a:r>
              <a:rPr lang="en-CA" sz="2799" dirty="0">
                <a:solidFill>
                  <a:srgbClr val="1D1C1D"/>
                </a:solidFill>
                <a:latin typeface="Arial" panose="020B0604020202020204" pitchFamily="34" charset="0"/>
                <a:cs typeface="Arial" panose="020B0604020202020204" pitchFamily="34" charset="0"/>
              </a:rPr>
              <a:t>	In our work, we are developing a biologically inspired spiking neural network that can learn and store multiple memories despite the presence of noise.</a:t>
            </a:r>
            <a:endParaRPr lang="en-CA" sz="2799" dirty="0">
              <a:latin typeface="Arial" panose="020B0604020202020204" pitchFamily="34" charset="0"/>
              <a:cs typeface="Arial" panose="020B0604020202020204" pitchFamily="34" charset="0"/>
            </a:endParaRPr>
          </a:p>
        </p:txBody>
      </p:sp>
      <p:sp>
        <p:nvSpPr>
          <p:cNvPr id="93" name="TextBox 92">
            <a:extLst>
              <a:ext uri="{FF2B5EF4-FFF2-40B4-BE49-F238E27FC236}">
                <a16:creationId xmlns:a16="http://schemas.microsoft.com/office/drawing/2014/main" id="{84CB82AD-0D1E-A1F1-F9D5-7FF226D07000}"/>
              </a:ext>
            </a:extLst>
          </p:cNvPr>
          <p:cNvSpPr txBox="1"/>
          <p:nvPr/>
        </p:nvSpPr>
        <p:spPr>
          <a:xfrm>
            <a:off x="21574782" y="41234239"/>
            <a:ext cx="6357831" cy="584904"/>
          </a:xfrm>
          <a:prstGeom prst="rect">
            <a:avLst/>
          </a:prstGeom>
          <a:noFill/>
        </p:spPr>
        <p:txBody>
          <a:bodyPr wrap="none" rtlCol="0">
            <a:spAutoFit/>
          </a:bodyPr>
          <a:lstStyle/>
          <a:p>
            <a:r>
              <a:rPr lang="en-CA" sz="3201" dirty="0">
                <a:latin typeface="Arial" panose="020B0604020202020204" pitchFamily="34" charset="0"/>
                <a:cs typeface="Arial" panose="020B0604020202020204" pitchFamily="34" charset="0"/>
              </a:rPr>
              <a:t>SeyedArshia.Razavi@ucalgary.ca</a:t>
            </a:r>
          </a:p>
        </p:txBody>
      </p:sp>
      <p:pic>
        <p:nvPicPr>
          <p:cNvPr id="94" name="Graphic 93" descr="Envelope with solid fill">
            <a:extLst>
              <a:ext uri="{FF2B5EF4-FFF2-40B4-BE49-F238E27FC236}">
                <a16:creationId xmlns:a16="http://schemas.microsoft.com/office/drawing/2014/main" id="{9E3F0A4F-85E8-9ACE-20C8-32D9333868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507752" y="41093507"/>
            <a:ext cx="866369" cy="866369"/>
          </a:xfrm>
          <a:prstGeom prst="rect">
            <a:avLst/>
          </a:prstGeom>
        </p:spPr>
      </p:pic>
      <p:sp>
        <p:nvSpPr>
          <p:cNvPr id="95" name="TextBox 94">
            <a:extLst>
              <a:ext uri="{FF2B5EF4-FFF2-40B4-BE49-F238E27FC236}">
                <a16:creationId xmlns:a16="http://schemas.microsoft.com/office/drawing/2014/main" id="{77537CAE-A840-CEA1-35E1-E2DCFDEFBE61}"/>
              </a:ext>
            </a:extLst>
          </p:cNvPr>
          <p:cNvSpPr txBox="1"/>
          <p:nvPr/>
        </p:nvSpPr>
        <p:spPr>
          <a:xfrm>
            <a:off x="20342268" y="32151050"/>
            <a:ext cx="8674506" cy="6738511"/>
          </a:xfrm>
          <a:prstGeom prst="rect">
            <a:avLst/>
          </a:prstGeom>
          <a:noFill/>
        </p:spPr>
        <p:txBody>
          <a:bodyPr wrap="square" rtlCol="0">
            <a:spAutoFit/>
          </a:bodyPr>
          <a:lstStyle/>
          <a:p>
            <a:pPr algn="just">
              <a:spcAft>
                <a:spcPts val="1200"/>
              </a:spcAft>
            </a:pPr>
            <a:r>
              <a:rPr lang="en-CA" sz="2799" b="1" dirty="0">
                <a:latin typeface="Arial" panose="020B0604020202020204" pitchFamily="34" charset="0"/>
                <a:cs typeface="Arial" panose="020B0604020202020204" pitchFamily="34" charset="0"/>
              </a:rPr>
              <a:t>1. </a:t>
            </a:r>
            <a:r>
              <a:rPr lang="en-CA" sz="2799" dirty="0">
                <a:latin typeface="Arial" panose="020B0604020202020204" pitchFamily="34" charset="0"/>
                <a:cs typeface="Arial" panose="020B0604020202020204" pitchFamily="34" charset="0"/>
              </a:rPr>
              <a:t>E. M. Izhikevich, Simple model of spiking neurons, IEEE Transactions on Neural Networks, 2003</a:t>
            </a:r>
          </a:p>
          <a:p>
            <a:pPr algn="just">
              <a:spcAft>
                <a:spcPts val="1200"/>
              </a:spcAft>
            </a:pPr>
            <a:r>
              <a:rPr lang="en-CA" sz="2799" b="1" dirty="0">
                <a:solidFill>
                  <a:srgbClr val="333333"/>
                </a:solidFill>
                <a:highlight>
                  <a:srgbClr val="FFFFFF"/>
                </a:highlight>
                <a:latin typeface="Arial" panose="020B0604020202020204" pitchFamily="34" charset="0"/>
                <a:cs typeface="Arial" panose="020B0604020202020204" pitchFamily="34" charset="0"/>
              </a:rPr>
              <a:t>2. </a:t>
            </a:r>
            <a:r>
              <a:rPr lang="en-CA" sz="2799" dirty="0">
                <a:solidFill>
                  <a:srgbClr val="333333"/>
                </a:solidFill>
                <a:highlight>
                  <a:srgbClr val="FFFFFF"/>
                </a:highlight>
                <a:latin typeface="Arial" panose="020B0604020202020204" pitchFamily="34" charset="0"/>
                <a:cs typeface="Arial" panose="020B0604020202020204" pitchFamily="34" charset="0"/>
              </a:rPr>
              <a:t>E. M. Izhikevich, Which model to use for cortical spiking neurons?, </a:t>
            </a:r>
            <a:r>
              <a:rPr lang="en-CA" sz="2799" i="1" dirty="0">
                <a:solidFill>
                  <a:srgbClr val="333333"/>
                </a:solidFill>
                <a:highlight>
                  <a:srgbClr val="FFFFFF"/>
                </a:highlight>
                <a:latin typeface="Arial" panose="020B0604020202020204" pitchFamily="34" charset="0"/>
                <a:cs typeface="Arial" panose="020B0604020202020204" pitchFamily="34" charset="0"/>
              </a:rPr>
              <a:t>IEEE Transactions on Neural Networks</a:t>
            </a:r>
            <a:r>
              <a:rPr lang="en-CA" sz="2799" dirty="0">
                <a:solidFill>
                  <a:srgbClr val="333333"/>
                </a:solidFill>
                <a:highlight>
                  <a:srgbClr val="FFFFFF"/>
                </a:highlight>
                <a:latin typeface="Arial" panose="020B0604020202020204" pitchFamily="34" charset="0"/>
                <a:cs typeface="Arial" panose="020B0604020202020204" pitchFamily="34" charset="0"/>
              </a:rPr>
              <a:t>, 2004</a:t>
            </a:r>
          </a:p>
          <a:p>
            <a:pPr algn="just">
              <a:spcAft>
                <a:spcPts val="1200"/>
              </a:spcAft>
            </a:pPr>
            <a:r>
              <a:rPr lang="en-CA" sz="2799" b="1" dirty="0">
                <a:solidFill>
                  <a:srgbClr val="212121"/>
                </a:solidFill>
                <a:latin typeface="Arial" panose="020B0604020202020204" pitchFamily="34" charset="0"/>
                <a:cs typeface="Arial" panose="020B0604020202020204" pitchFamily="34" charset="0"/>
              </a:rPr>
              <a:t>3. </a:t>
            </a:r>
            <a:r>
              <a:rPr lang="en-CA" sz="2799" dirty="0">
                <a:solidFill>
                  <a:srgbClr val="212121"/>
                </a:solidFill>
                <a:latin typeface="Arial" panose="020B0604020202020204" pitchFamily="34" charset="0"/>
                <a:cs typeface="Arial" panose="020B0604020202020204" pitchFamily="34" charset="0"/>
              </a:rPr>
              <a:t>M. C. W. Van Rossum MC, Bi GQ, Turrigiano GG. Stable Hebbian learning from spike timing-dependent plasticity. </a:t>
            </a:r>
            <a:r>
              <a:rPr lang="en-CA" sz="2799" i="1" dirty="0">
                <a:solidFill>
                  <a:srgbClr val="212121"/>
                </a:solidFill>
                <a:latin typeface="Arial" panose="020B0604020202020204" pitchFamily="34" charset="0"/>
                <a:cs typeface="Arial" panose="020B0604020202020204" pitchFamily="34" charset="0"/>
              </a:rPr>
              <a:t>Journal of Neuroscience,</a:t>
            </a:r>
            <a:r>
              <a:rPr lang="en-CA" sz="2799" dirty="0">
                <a:solidFill>
                  <a:srgbClr val="212121"/>
                </a:solidFill>
                <a:latin typeface="Arial" panose="020B0604020202020204" pitchFamily="34" charset="0"/>
                <a:cs typeface="Arial" panose="020B0604020202020204" pitchFamily="34" charset="0"/>
              </a:rPr>
              <a:t> 2000</a:t>
            </a:r>
          </a:p>
          <a:p>
            <a:pPr algn="just">
              <a:spcAft>
                <a:spcPts val="1200"/>
              </a:spcAft>
            </a:pPr>
            <a:r>
              <a:rPr lang="en-CA" sz="2799" b="1" dirty="0">
                <a:solidFill>
                  <a:srgbClr val="0E101A"/>
                </a:solidFill>
                <a:highlight>
                  <a:srgbClr val="FFFFFF"/>
                </a:highlight>
                <a:latin typeface="Arial" panose="020B0604020202020204" pitchFamily="34" charset="0"/>
                <a:cs typeface="Arial" panose="020B0604020202020204" pitchFamily="34" charset="0"/>
              </a:rPr>
              <a:t>4. </a:t>
            </a:r>
            <a:r>
              <a:rPr lang="en-CA" sz="2799" dirty="0">
                <a:solidFill>
                  <a:srgbClr val="0E101A"/>
                </a:solidFill>
                <a:highlight>
                  <a:srgbClr val="FFFFFF"/>
                </a:highlight>
                <a:latin typeface="Arial" panose="020B0604020202020204" pitchFamily="34" charset="0"/>
                <a:cs typeface="Arial" panose="020B0604020202020204" pitchFamily="34" charset="0"/>
              </a:rPr>
              <a:t>D. V. Buonomano, A learning rule for the emergence of stable dynamics and timing in recurrent networks. </a:t>
            </a:r>
            <a:r>
              <a:rPr lang="en-CA" sz="2799" i="1" dirty="0">
                <a:solidFill>
                  <a:srgbClr val="0E101A"/>
                </a:solidFill>
                <a:highlight>
                  <a:srgbClr val="FFFFFF"/>
                </a:highlight>
                <a:latin typeface="Arial" panose="020B0604020202020204" pitchFamily="34" charset="0"/>
                <a:cs typeface="Arial" panose="020B0604020202020204" pitchFamily="34" charset="0"/>
              </a:rPr>
              <a:t>Journal of Neurophysiology,</a:t>
            </a:r>
            <a:r>
              <a:rPr lang="en-CA" sz="2799" dirty="0">
                <a:solidFill>
                  <a:srgbClr val="0E101A"/>
                </a:solidFill>
                <a:highlight>
                  <a:srgbClr val="FFFFFF"/>
                </a:highlight>
                <a:latin typeface="Arial" panose="020B0604020202020204" pitchFamily="34" charset="0"/>
                <a:cs typeface="Arial" panose="020B0604020202020204" pitchFamily="34" charset="0"/>
              </a:rPr>
              <a:t> 2005</a:t>
            </a:r>
          </a:p>
          <a:p>
            <a:pPr algn="just">
              <a:spcAft>
                <a:spcPts val="1200"/>
              </a:spcAft>
            </a:pPr>
            <a:r>
              <a:rPr lang="en-CA" sz="2799" b="1" dirty="0">
                <a:solidFill>
                  <a:srgbClr val="0E101A"/>
                </a:solidFill>
                <a:highlight>
                  <a:srgbClr val="FFFFFF"/>
                </a:highlight>
                <a:latin typeface="Arial" panose="020B0604020202020204" pitchFamily="34" charset="0"/>
                <a:cs typeface="Arial" panose="020B0604020202020204" pitchFamily="34" charset="0"/>
              </a:rPr>
              <a:t>5. </a:t>
            </a:r>
            <a:r>
              <a:rPr lang="en-CA" sz="2799" dirty="0">
                <a:solidFill>
                  <a:srgbClr val="0E101A"/>
                </a:solidFill>
                <a:highlight>
                  <a:srgbClr val="FFFFFF"/>
                </a:highlight>
                <a:latin typeface="Arial" panose="020B0604020202020204" pitchFamily="34" charset="0"/>
                <a:cs typeface="Arial" panose="020B0604020202020204" pitchFamily="34" charset="0"/>
              </a:rPr>
              <a:t>L. Susman, N. Brenner, &amp; O. Barak, Stable memory with unstable synapses. </a:t>
            </a:r>
            <a:r>
              <a:rPr lang="en-CA" sz="2799" i="1" dirty="0">
                <a:solidFill>
                  <a:srgbClr val="0E101A"/>
                </a:solidFill>
                <a:highlight>
                  <a:srgbClr val="FFFFFF"/>
                </a:highlight>
                <a:latin typeface="Arial" panose="020B0604020202020204" pitchFamily="34" charset="0"/>
                <a:cs typeface="Arial" panose="020B0604020202020204" pitchFamily="34" charset="0"/>
              </a:rPr>
              <a:t>Nature Communications, 2019</a:t>
            </a:r>
            <a:endParaRPr lang="en-CA" sz="2799" dirty="0">
              <a:solidFill>
                <a:srgbClr val="21212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3EEC368C-6652-4180-81B6-DB82032FCEEF}"/>
                  </a:ext>
                </a:extLst>
              </p:cNvPr>
              <p:cNvSpPr txBox="1"/>
              <p:nvPr/>
            </p:nvSpPr>
            <p:spPr>
              <a:xfrm>
                <a:off x="1339666" y="15960901"/>
                <a:ext cx="3290965" cy="620491"/>
              </a:xfrm>
              <a:prstGeom prst="rect">
                <a:avLst/>
              </a:prstGeom>
              <a:noFill/>
            </p:spPr>
            <p:txBody>
              <a:bodyPr wrap="square" lIns="0" tIns="0" rIns="0" bIns="0" rtlCol="0">
                <a:spAutoFit/>
              </a:bodyPr>
              <a:lstStyle/>
              <a:p>
                <a:r>
                  <a:rPr lang="en-CA" sz="2799">
                    <a:latin typeface="Arial" panose="020B0604020202020204" pitchFamily="34" charset="0"/>
                    <a:cs typeface="Arial" panose="020B0604020202020204" pitchFamily="34" charset="0"/>
                  </a:rPr>
                  <a:t>	</a:t>
                </a:r>
                <a14:m>
                  <m:oMath xmlns:m="http://schemas.openxmlformats.org/officeDocument/2006/math">
                    <m:f>
                      <m:fPr>
                        <m:ctrlPr>
                          <a:rPr lang="en-CA" sz="2799" i="1">
                            <a:latin typeface="Cambria Math" panose="02040503050406030204" pitchFamily="18" charset="0"/>
                          </a:rPr>
                        </m:ctrlPr>
                      </m:fPr>
                      <m:num>
                        <m:r>
                          <a:rPr lang="en-CA" sz="2799" i="1">
                            <a:latin typeface="Cambria Math" panose="02040503050406030204" pitchFamily="18" charset="0"/>
                          </a:rPr>
                          <m:t>𝑑𝑢</m:t>
                        </m:r>
                      </m:num>
                      <m:den>
                        <m:r>
                          <a:rPr lang="en-CA" sz="2799" i="1">
                            <a:latin typeface="Cambria Math" panose="02040503050406030204" pitchFamily="18" charset="0"/>
                          </a:rPr>
                          <m:t>𝑑𝑡</m:t>
                        </m:r>
                      </m:den>
                    </m:f>
                    <m:r>
                      <a:rPr lang="en-CA" sz="2799" i="1">
                        <a:latin typeface="Cambria Math" panose="02040503050406030204" pitchFamily="18" charset="0"/>
                      </a:rPr>
                      <m:t>=</m:t>
                    </m:r>
                    <m:r>
                      <a:rPr lang="en-CA" sz="2799" i="1">
                        <a:latin typeface="Cambria Math" panose="02040503050406030204" pitchFamily="18" charset="0"/>
                      </a:rPr>
                      <m:t>𝑎</m:t>
                    </m:r>
                    <m:r>
                      <a:rPr lang="en-CA" sz="2799" i="1">
                        <a:latin typeface="Cambria Math" panose="02040503050406030204" pitchFamily="18" charset="0"/>
                      </a:rPr>
                      <m:t>(</m:t>
                    </m:r>
                    <m:r>
                      <a:rPr lang="en-CA" sz="2799" i="1">
                        <a:latin typeface="Cambria Math" panose="02040503050406030204" pitchFamily="18" charset="0"/>
                      </a:rPr>
                      <m:t>𝑏𝑣</m:t>
                    </m:r>
                    <m:r>
                      <a:rPr lang="en-CA" sz="2799" i="1">
                        <a:latin typeface="Cambria Math" panose="02040503050406030204" pitchFamily="18" charset="0"/>
                      </a:rPr>
                      <m:t>−</m:t>
                    </m:r>
                    <m:r>
                      <a:rPr lang="en-CA" sz="2799" i="1">
                        <a:latin typeface="Cambria Math" panose="02040503050406030204" pitchFamily="18" charset="0"/>
                      </a:rPr>
                      <m:t>𝑢</m:t>
                    </m:r>
                    <m:r>
                      <a:rPr lang="en-CA" sz="2799" i="1">
                        <a:latin typeface="Cambria Math" panose="02040503050406030204" pitchFamily="18" charset="0"/>
                      </a:rPr>
                      <m:t>)</m:t>
                    </m:r>
                  </m:oMath>
                </a14:m>
                <a:endParaRPr lang="en-CA" sz="2799">
                  <a:latin typeface="Arial" panose="020B0604020202020204" pitchFamily="34" charset="0"/>
                  <a:cs typeface="Arial" panose="020B0604020202020204" pitchFamily="34" charset="0"/>
                </a:endParaRPr>
              </a:p>
            </p:txBody>
          </p:sp>
        </mc:Choice>
        <mc:Fallback xmlns="">
          <p:sp>
            <p:nvSpPr>
              <p:cNvPr id="98" name="TextBox 97">
                <a:extLst>
                  <a:ext uri="{FF2B5EF4-FFF2-40B4-BE49-F238E27FC236}">
                    <a16:creationId xmlns:a16="http://schemas.microsoft.com/office/drawing/2014/main" id="{3EEC368C-6652-4180-81B6-DB82032FCEEF}"/>
                  </a:ext>
                </a:extLst>
              </p:cNvPr>
              <p:cNvSpPr txBox="1">
                <a:spLocks noRot="1" noChangeAspect="1" noMove="1" noResize="1" noEditPoints="1" noAdjustHandles="1" noChangeArrowheads="1" noChangeShapeType="1" noTextEdit="1"/>
              </p:cNvSpPr>
              <p:nvPr/>
            </p:nvSpPr>
            <p:spPr>
              <a:xfrm>
                <a:off x="1339666" y="15960901"/>
                <a:ext cx="3290965" cy="620491"/>
              </a:xfrm>
              <a:prstGeom prst="rect">
                <a:avLst/>
              </a:prstGeom>
              <a:blipFill>
                <a:blip r:embed="rId8"/>
                <a:stretch>
                  <a:fillRect/>
                </a:stretch>
              </a:blipFill>
            </p:spPr>
            <p:txBody>
              <a:bodyPr/>
              <a:lstStyle/>
              <a:p>
                <a:r>
                  <a:rPr lang="en-US">
                    <a:noFill/>
                  </a:rPr>
                  <a:t> </a:t>
                </a:r>
              </a:p>
            </p:txBody>
          </p:sp>
        </mc:Fallback>
      </mc:AlternateContent>
      <p:sp>
        <p:nvSpPr>
          <p:cNvPr id="99" name="TextBox 98">
            <a:extLst>
              <a:ext uri="{FF2B5EF4-FFF2-40B4-BE49-F238E27FC236}">
                <a16:creationId xmlns:a16="http://schemas.microsoft.com/office/drawing/2014/main" id="{CFEA6E47-0F95-4791-65B8-F7B241587A8C}"/>
              </a:ext>
            </a:extLst>
          </p:cNvPr>
          <p:cNvSpPr txBox="1"/>
          <p:nvPr/>
        </p:nvSpPr>
        <p:spPr>
          <a:xfrm>
            <a:off x="1225322" y="14311907"/>
            <a:ext cx="7901515" cy="584775"/>
          </a:xfrm>
          <a:prstGeom prst="rect">
            <a:avLst/>
          </a:prstGeom>
          <a:noFill/>
        </p:spPr>
        <p:txBody>
          <a:bodyPr wrap="square" rtlCol="0">
            <a:spAutoFit/>
          </a:bodyPr>
          <a:lstStyle/>
          <a:p>
            <a:r>
              <a:rPr lang="en-CA" sz="3200" b="1" dirty="0">
                <a:latin typeface="Arial" panose="020B0604020202020204" pitchFamily="34" charset="0"/>
                <a:cs typeface="Arial" panose="020B0604020202020204" pitchFamily="34" charset="0"/>
              </a:rPr>
              <a:t>Izhikevich Model of Spiking Neurons</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6E2E7C8D-5619-312D-7C0B-DE5A21C4E572}"/>
                  </a:ext>
                </a:extLst>
              </p:cNvPr>
              <p:cNvSpPr txBox="1"/>
              <p:nvPr/>
            </p:nvSpPr>
            <p:spPr>
              <a:xfrm>
                <a:off x="1698625" y="16906566"/>
                <a:ext cx="4904227" cy="7680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799" i="1">
                          <a:latin typeface="Cambria Math" panose="02040503050406030204" pitchFamily="18" charset="0"/>
                        </a:rPr>
                        <m:t>𝑖𝑓</m:t>
                      </m:r>
                      <m:r>
                        <a:rPr lang="en-CA" sz="2799" i="1">
                          <a:latin typeface="Cambria Math" panose="02040503050406030204" pitchFamily="18" charset="0"/>
                        </a:rPr>
                        <m:t> </m:t>
                      </m:r>
                      <m:r>
                        <a:rPr lang="en-CA" sz="2799" i="1">
                          <a:latin typeface="Cambria Math" panose="02040503050406030204" pitchFamily="18" charset="0"/>
                        </a:rPr>
                        <m:t>𝑣</m:t>
                      </m:r>
                      <m:r>
                        <a:rPr lang="en-CA" sz="2799" i="1">
                          <a:latin typeface="Cambria Math" panose="02040503050406030204" pitchFamily="18" charset="0"/>
                          <a:ea typeface="Cambria Math" panose="02040503050406030204" pitchFamily="18" charset="0"/>
                        </a:rPr>
                        <m:t>≥</m:t>
                      </m:r>
                      <m:r>
                        <a:rPr lang="en-CA" sz="2799" i="1">
                          <a:latin typeface="Cambria Math" panose="02040503050406030204" pitchFamily="18" charset="0"/>
                        </a:rPr>
                        <m:t>30 </m:t>
                      </m:r>
                      <m:r>
                        <a:rPr lang="en-CA" sz="2799" i="1">
                          <a:latin typeface="Cambria Math" panose="02040503050406030204" pitchFamily="18" charset="0"/>
                        </a:rPr>
                        <m:t>𝑚𝑉</m:t>
                      </m:r>
                      <m:r>
                        <a:rPr lang="en-CA" sz="2799" i="1">
                          <a:latin typeface="Cambria Math" panose="02040503050406030204" pitchFamily="18" charset="0"/>
                        </a:rPr>
                        <m:t>, </m:t>
                      </m:r>
                      <m:r>
                        <a:rPr lang="en-CA" sz="2799" i="1">
                          <a:latin typeface="Cambria Math" panose="02040503050406030204" pitchFamily="18" charset="0"/>
                        </a:rPr>
                        <m:t>𝑡h𝑒𝑛</m:t>
                      </m:r>
                      <m:r>
                        <a:rPr lang="en-CA" sz="2799" i="1">
                          <a:latin typeface="Cambria Math" panose="02040503050406030204" pitchFamily="18" charset="0"/>
                        </a:rPr>
                        <m:t> </m:t>
                      </m:r>
                      <m:d>
                        <m:dPr>
                          <m:begChr m:val="{"/>
                          <m:endChr m:val=""/>
                          <m:ctrlPr>
                            <a:rPr lang="en-CA" sz="2799" i="1">
                              <a:latin typeface="Cambria Math" panose="02040503050406030204" pitchFamily="18" charset="0"/>
                            </a:rPr>
                          </m:ctrlPr>
                        </m:dPr>
                        <m:e>
                          <m:eqArr>
                            <m:eqArrPr>
                              <m:ctrlPr>
                                <a:rPr lang="en-CA" sz="2799" i="1">
                                  <a:latin typeface="Cambria Math" panose="02040503050406030204" pitchFamily="18" charset="0"/>
                                </a:rPr>
                              </m:ctrlPr>
                            </m:eqArrPr>
                            <m:e>
                              <m:r>
                                <a:rPr lang="en-CA" sz="2799" i="1">
                                  <a:latin typeface="Cambria Math" panose="02040503050406030204" pitchFamily="18" charset="0"/>
                                </a:rPr>
                                <m:t>𝑣</m:t>
                              </m:r>
                              <m:r>
                                <a:rPr lang="en-CA" sz="2799" i="1">
                                  <a:latin typeface="Cambria Math" panose="02040503050406030204" pitchFamily="18" charset="0"/>
                                </a:rPr>
                                <m:t>→</m:t>
                              </m:r>
                              <m:r>
                                <a:rPr lang="en-CA" sz="2799" i="1">
                                  <a:latin typeface="Cambria Math" panose="02040503050406030204" pitchFamily="18" charset="0"/>
                                </a:rPr>
                                <m:t>𝑐</m:t>
                              </m:r>
                            </m:e>
                            <m:e>
                              <m:r>
                                <a:rPr lang="en-CA" sz="2799" i="1">
                                  <a:latin typeface="Cambria Math" panose="02040503050406030204" pitchFamily="18" charset="0"/>
                                </a:rPr>
                                <m:t>𝑢</m:t>
                              </m:r>
                              <m:r>
                                <a:rPr lang="en-CA" sz="2799" i="1">
                                  <a:latin typeface="Cambria Math" panose="02040503050406030204" pitchFamily="18" charset="0"/>
                                </a:rPr>
                                <m:t>→</m:t>
                              </m:r>
                              <m:r>
                                <a:rPr lang="en-CA" sz="2799" i="1">
                                  <a:latin typeface="Cambria Math" panose="02040503050406030204" pitchFamily="18" charset="0"/>
                                </a:rPr>
                                <m:t>𝑢</m:t>
                              </m:r>
                              <m:r>
                                <a:rPr lang="en-CA" sz="2799" i="1">
                                  <a:latin typeface="Cambria Math" panose="02040503050406030204" pitchFamily="18" charset="0"/>
                                </a:rPr>
                                <m:t>+</m:t>
                              </m:r>
                              <m:r>
                                <a:rPr lang="en-CA" sz="2799" i="1">
                                  <a:latin typeface="Cambria Math" panose="02040503050406030204" pitchFamily="18" charset="0"/>
                                </a:rPr>
                                <m:t>𝑑</m:t>
                              </m:r>
                            </m:e>
                          </m:eqArr>
                        </m:e>
                      </m:d>
                    </m:oMath>
                  </m:oMathPara>
                </a14:m>
                <a:endParaRPr lang="en-CA" sz="2799">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6E2E7C8D-5619-312D-7C0B-DE5A21C4E572}"/>
                  </a:ext>
                </a:extLst>
              </p:cNvPr>
              <p:cNvSpPr txBox="1">
                <a:spLocks noRot="1" noChangeAspect="1" noMove="1" noResize="1" noEditPoints="1" noAdjustHandles="1" noChangeArrowheads="1" noChangeShapeType="1" noTextEdit="1"/>
              </p:cNvSpPr>
              <p:nvPr/>
            </p:nvSpPr>
            <p:spPr>
              <a:xfrm>
                <a:off x="1698625" y="16906566"/>
                <a:ext cx="4904227" cy="768031"/>
              </a:xfrm>
              <a:prstGeom prst="rect">
                <a:avLst/>
              </a:prstGeom>
              <a:blipFill>
                <a:blip r:embed="rId9"/>
                <a:stretch>
                  <a:fillRect/>
                </a:stretch>
              </a:blipFill>
            </p:spPr>
            <p:txBody>
              <a:bodyPr/>
              <a:lstStyle/>
              <a:p>
                <a:r>
                  <a:rPr lang="en-US">
                    <a:noFill/>
                  </a:rPr>
                  <a:t> </a:t>
                </a:r>
              </a:p>
            </p:txBody>
          </p:sp>
        </mc:Fallback>
      </mc:AlternateContent>
      <p:sp>
        <p:nvSpPr>
          <p:cNvPr id="117" name="TextBox 116">
            <a:extLst>
              <a:ext uri="{FF2B5EF4-FFF2-40B4-BE49-F238E27FC236}">
                <a16:creationId xmlns:a16="http://schemas.microsoft.com/office/drawing/2014/main" id="{05D555CF-454C-FE7D-325C-4AE5EE051F54}"/>
              </a:ext>
            </a:extLst>
          </p:cNvPr>
          <p:cNvSpPr txBox="1"/>
          <p:nvPr/>
        </p:nvSpPr>
        <p:spPr>
          <a:xfrm>
            <a:off x="957137" y="23332890"/>
            <a:ext cx="9214959" cy="584775"/>
          </a:xfrm>
          <a:prstGeom prst="rect">
            <a:avLst/>
          </a:prstGeom>
          <a:noFill/>
        </p:spPr>
        <p:txBody>
          <a:bodyPr wrap="none" rtlCol="0">
            <a:spAutoFit/>
          </a:bodyPr>
          <a:lstStyle/>
          <a:p>
            <a:r>
              <a:rPr lang="en-CA" sz="3200" b="1">
                <a:latin typeface="Arial" panose="020B0604020202020204" pitchFamily="34" charset="0"/>
                <a:cs typeface="Arial" panose="020B0604020202020204" pitchFamily="34" charset="0"/>
              </a:rPr>
              <a:t>Hebbian Spike Time Dependent Plasticity Rule</a:t>
            </a:r>
          </a:p>
        </p:txBody>
      </p:sp>
      <p:sp>
        <p:nvSpPr>
          <p:cNvPr id="118" name="TextBox 117">
            <a:extLst>
              <a:ext uri="{FF2B5EF4-FFF2-40B4-BE49-F238E27FC236}">
                <a16:creationId xmlns:a16="http://schemas.microsoft.com/office/drawing/2014/main" id="{D0F6D937-2EF3-E422-3C12-9CC26FDC98A2}"/>
              </a:ext>
            </a:extLst>
          </p:cNvPr>
          <p:cNvSpPr txBox="1"/>
          <p:nvPr/>
        </p:nvSpPr>
        <p:spPr>
          <a:xfrm>
            <a:off x="1488631" y="24481653"/>
            <a:ext cx="1899559" cy="430759"/>
          </a:xfrm>
          <a:prstGeom prst="rect">
            <a:avLst/>
          </a:prstGeom>
          <a:noFill/>
        </p:spPr>
        <p:txBody>
          <a:bodyPr wrap="none" lIns="0" tIns="0" rIns="0" bIns="0" rtlCol="0">
            <a:spAutoFit/>
          </a:bodyPr>
          <a:lstStyle/>
          <a:p>
            <a:r>
              <a:rPr lang="en-CA" sz="2799">
                <a:latin typeface="Arial" panose="020B0604020202020204" pitchFamily="34" charset="0"/>
                <a:cs typeface="Arial" panose="020B0604020202020204" pitchFamily="34" charset="0"/>
              </a:rPr>
              <a:t>Potentiation</a:t>
            </a:r>
            <a:endParaRPr lang="en-CA" sz="2799"/>
          </a:p>
        </p:txBody>
      </p:sp>
      <p:sp>
        <p:nvSpPr>
          <p:cNvPr id="119" name="TextBox 118">
            <a:extLst>
              <a:ext uri="{FF2B5EF4-FFF2-40B4-BE49-F238E27FC236}">
                <a16:creationId xmlns:a16="http://schemas.microsoft.com/office/drawing/2014/main" id="{5CBF4D3D-F5F1-B562-6C7B-3BFC8573758D}"/>
              </a:ext>
            </a:extLst>
          </p:cNvPr>
          <p:cNvSpPr txBox="1"/>
          <p:nvPr/>
        </p:nvSpPr>
        <p:spPr>
          <a:xfrm>
            <a:off x="1462118" y="25715922"/>
            <a:ext cx="1821011" cy="430759"/>
          </a:xfrm>
          <a:prstGeom prst="rect">
            <a:avLst/>
          </a:prstGeom>
          <a:noFill/>
        </p:spPr>
        <p:txBody>
          <a:bodyPr wrap="none" lIns="0" tIns="0" rIns="0" bIns="0" rtlCol="0">
            <a:spAutoFit/>
          </a:bodyPr>
          <a:lstStyle/>
          <a:p>
            <a:r>
              <a:rPr lang="en-CA" sz="2799">
                <a:latin typeface="Arial" panose="020B0604020202020204" pitchFamily="34" charset="0"/>
                <a:cs typeface="Arial" panose="020B0604020202020204" pitchFamily="34" charset="0"/>
              </a:rPr>
              <a:t>Depression</a:t>
            </a:r>
            <a:endParaRPr lang="en-CA" sz="2799"/>
          </a:p>
        </p:txBody>
      </p:sp>
      <p:sp>
        <p:nvSpPr>
          <p:cNvPr id="120" name="Left Brace 119">
            <a:extLst>
              <a:ext uri="{FF2B5EF4-FFF2-40B4-BE49-F238E27FC236}">
                <a16:creationId xmlns:a16="http://schemas.microsoft.com/office/drawing/2014/main" id="{63CA4801-BCF6-95FF-F6E5-45541D447F87}"/>
              </a:ext>
            </a:extLst>
          </p:cNvPr>
          <p:cNvSpPr/>
          <p:nvPr/>
        </p:nvSpPr>
        <p:spPr>
          <a:xfrm>
            <a:off x="3470429" y="24215024"/>
            <a:ext cx="627907" cy="1027277"/>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CA" sz="2799"/>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B4D6EB4-DBDD-D916-D446-2134A217CCB3}"/>
                  </a:ext>
                </a:extLst>
              </p:cNvPr>
              <p:cNvSpPr txBox="1"/>
              <p:nvPr/>
            </p:nvSpPr>
            <p:spPr>
              <a:xfrm>
                <a:off x="3845304" y="24159859"/>
                <a:ext cx="5812520" cy="12922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CA" sz="2799" i="1">
                          <a:latin typeface="Cambria Math" panose="02040503050406030204" pitchFamily="18" charset="0"/>
                        </a:rPr>
                        <m:t>𝑔</m:t>
                      </m:r>
                      <m:r>
                        <a:rPr lang="en-CA" sz="2799" i="1">
                          <a:latin typeface="Cambria Math" panose="02040503050406030204" pitchFamily="18" charset="0"/>
                        </a:rPr>
                        <m:t>→</m:t>
                      </m:r>
                      <m:r>
                        <a:rPr lang="en-CA" sz="2799" i="1">
                          <a:latin typeface="Cambria Math" panose="02040503050406030204" pitchFamily="18" charset="0"/>
                        </a:rPr>
                        <m:t>𝑔</m:t>
                      </m:r>
                      <m:r>
                        <a:rPr lang="en-CA" sz="2799" i="1">
                          <a:latin typeface="Cambria Math" panose="02040503050406030204" pitchFamily="18" charset="0"/>
                        </a:rPr>
                        <m:t>+</m:t>
                      </m:r>
                      <m:sSub>
                        <m:sSubPr>
                          <m:ctrlPr>
                            <a:rPr lang="en-CA" sz="2799" i="1">
                              <a:latin typeface="Cambria Math" panose="02040503050406030204" pitchFamily="18" charset="0"/>
                            </a:rPr>
                          </m:ctrlPr>
                        </m:sSubPr>
                        <m:e>
                          <m:r>
                            <a:rPr lang="en-CA" sz="2799" i="1">
                              <a:latin typeface="Cambria Math" panose="02040503050406030204" pitchFamily="18" charset="0"/>
                            </a:rPr>
                            <m:t>𝑔</m:t>
                          </m:r>
                        </m:e>
                        <m:sub>
                          <m:r>
                            <a:rPr lang="en-CA" sz="2799" i="1">
                              <a:latin typeface="Cambria Math" panose="02040503050406030204" pitchFamily="18" charset="0"/>
                            </a:rPr>
                            <m:t>𝑝</m:t>
                          </m:r>
                        </m:sub>
                      </m:sSub>
                    </m:oMath>
                    <m:oMath xmlns:m="http://schemas.openxmlformats.org/officeDocument/2006/math">
                      <m:sSub>
                        <m:sSubPr>
                          <m:ctrlPr>
                            <a:rPr lang="en-CA" sz="2799" i="1">
                              <a:latin typeface="Cambria Math" panose="02040503050406030204" pitchFamily="18" charset="0"/>
                            </a:rPr>
                          </m:ctrlPr>
                        </m:sSubPr>
                        <m:e>
                          <m:r>
                            <a:rPr lang="en-CA" sz="2799" i="1">
                              <a:latin typeface="Cambria Math" panose="02040503050406030204" pitchFamily="18" charset="0"/>
                            </a:rPr>
                            <m:t>𝑔</m:t>
                          </m:r>
                        </m:e>
                        <m:sub>
                          <m:r>
                            <a:rPr lang="en-CA" sz="2799" i="1">
                              <a:latin typeface="Cambria Math" panose="02040503050406030204" pitchFamily="18" charset="0"/>
                            </a:rPr>
                            <m:t>𝑝</m:t>
                          </m:r>
                        </m:sub>
                      </m:sSub>
                      <m:r>
                        <a:rPr lang="en-CA" sz="2799" i="1">
                          <a:latin typeface="Cambria Math" panose="02040503050406030204" pitchFamily="18" charset="0"/>
                        </a:rPr>
                        <m:t>=</m:t>
                      </m:r>
                      <m:sSub>
                        <m:sSubPr>
                          <m:ctrlPr>
                            <a:rPr lang="en-CA" sz="2799" i="1">
                              <a:latin typeface="Cambria Math" panose="02040503050406030204" pitchFamily="18" charset="0"/>
                            </a:rPr>
                          </m:ctrlPr>
                        </m:sSubPr>
                        <m:e>
                          <m:r>
                            <a:rPr lang="en-CA" sz="2799" i="1">
                              <a:latin typeface="Cambria Math" panose="02040503050406030204" pitchFamily="18" charset="0"/>
                            </a:rPr>
                            <m:t>𝑐</m:t>
                          </m:r>
                        </m:e>
                        <m:sub>
                          <m:r>
                            <a:rPr lang="en-CA" sz="2799" i="1">
                              <a:latin typeface="Cambria Math" panose="02040503050406030204" pitchFamily="18" charset="0"/>
                            </a:rPr>
                            <m:t>𝑝</m:t>
                          </m:r>
                        </m:sub>
                      </m:sSub>
                      <m:sSup>
                        <m:sSupPr>
                          <m:ctrlPr>
                            <a:rPr lang="en-CA" sz="2799" i="1">
                              <a:latin typeface="Cambria Math" panose="02040503050406030204" pitchFamily="18" charset="0"/>
                            </a:rPr>
                          </m:ctrlPr>
                        </m:sSupPr>
                        <m:e>
                          <m:r>
                            <a:rPr lang="en-CA" sz="2799" i="1">
                              <a:latin typeface="Cambria Math" panose="02040503050406030204" pitchFamily="18" charset="0"/>
                            </a:rPr>
                            <m:t>𝑔</m:t>
                          </m:r>
                          <m:func>
                            <m:funcPr>
                              <m:ctrlPr>
                                <a:rPr lang="en-CA" sz="2799" i="1">
                                  <a:latin typeface="Cambria Math" panose="02040503050406030204" pitchFamily="18" charset="0"/>
                                </a:rPr>
                              </m:ctrlPr>
                            </m:funcPr>
                            <m:fName>
                              <m:r>
                                <m:rPr>
                                  <m:sty m:val="p"/>
                                </m:rPr>
                                <a:rPr lang="en-CA" sz="2799">
                                  <a:latin typeface="Cambria Math" panose="02040503050406030204" pitchFamily="18" charset="0"/>
                                </a:rPr>
                                <m:t>log</m:t>
                              </m:r>
                            </m:fName>
                            <m:e>
                              <m:d>
                                <m:dPr>
                                  <m:ctrlPr>
                                    <a:rPr lang="en-CA" sz="2799" i="1">
                                      <a:latin typeface="Cambria Math" panose="02040503050406030204" pitchFamily="18" charset="0"/>
                                    </a:rPr>
                                  </m:ctrlPr>
                                </m:dPr>
                                <m:e>
                                  <m:f>
                                    <m:fPr>
                                      <m:ctrlPr>
                                        <a:rPr lang="en-CA" sz="2799" i="1">
                                          <a:latin typeface="Cambria Math" panose="02040503050406030204" pitchFamily="18" charset="0"/>
                                        </a:rPr>
                                      </m:ctrlPr>
                                    </m:fPr>
                                    <m:num>
                                      <m:sSub>
                                        <m:sSubPr>
                                          <m:ctrlPr>
                                            <a:rPr lang="en-CA" sz="2799" i="1">
                                              <a:latin typeface="Cambria Math" panose="02040503050406030204" pitchFamily="18" charset="0"/>
                                            </a:rPr>
                                          </m:ctrlPr>
                                        </m:sSubPr>
                                        <m:e>
                                          <m:r>
                                            <a:rPr lang="en-CA" sz="2799" i="1">
                                              <a:latin typeface="Cambria Math" panose="02040503050406030204" pitchFamily="18" charset="0"/>
                                            </a:rPr>
                                            <m:t>𝑔</m:t>
                                          </m:r>
                                        </m:e>
                                        <m:sub>
                                          <m:r>
                                            <a:rPr lang="en-CA" sz="2799" i="1">
                                              <a:latin typeface="Cambria Math" panose="02040503050406030204" pitchFamily="18" charset="0"/>
                                            </a:rPr>
                                            <m:t>𝑚𝑎𝑥</m:t>
                                          </m:r>
                                        </m:sub>
                                      </m:sSub>
                                    </m:num>
                                    <m:den>
                                      <m:r>
                                        <a:rPr lang="en-CA" sz="2799" i="1">
                                          <a:latin typeface="Cambria Math" panose="02040503050406030204" pitchFamily="18" charset="0"/>
                                        </a:rPr>
                                        <m:t>𝑔</m:t>
                                      </m:r>
                                    </m:den>
                                  </m:f>
                                </m:e>
                              </m:d>
                            </m:e>
                          </m:func>
                          <m:r>
                            <a:rPr lang="en-CA" sz="2799" i="1">
                              <a:latin typeface="Cambria Math" panose="02040503050406030204" pitchFamily="18" charset="0"/>
                            </a:rPr>
                            <m:t>𝑒</m:t>
                          </m:r>
                        </m:e>
                        <m:sup>
                          <m:r>
                            <a:rPr lang="en-CA" sz="2799" i="1">
                              <a:latin typeface="Cambria Math" panose="02040503050406030204" pitchFamily="18" charset="0"/>
                            </a:rPr>
                            <m:t>−</m:t>
                          </m:r>
                          <m:r>
                            <a:rPr lang="en-CA" sz="2799" i="1">
                              <a:latin typeface="Cambria Math" panose="02040503050406030204" pitchFamily="18" charset="0"/>
                              <a:ea typeface="Cambria Math" panose="02040503050406030204" pitchFamily="18" charset="0"/>
                            </a:rPr>
                            <m:t>𝛿</m:t>
                          </m:r>
                          <m:r>
                            <a:rPr lang="en-CA" sz="2799" i="1">
                              <a:latin typeface="Cambria Math" panose="02040503050406030204" pitchFamily="18" charset="0"/>
                              <a:ea typeface="Cambria Math" panose="02040503050406030204" pitchFamily="18" charset="0"/>
                            </a:rPr>
                            <m:t>𝑡</m:t>
                          </m:r>
                          <m:r>
                            <a:rPr lang="en-CA" sz="2799" i="1">
                              <a:latin typeface="Cambria Math" panose="02040503050406030204" pitchFamily="18" charset="0"/>
                              <a:ea typeface="Cambria Math" panose="02040503050406030204" pitchFamily="18" charset="0"/>
                            </a:rPr>
                            <m:t>/</m:t>
                          </m:r>
                          <m:sSub>
                            <m:sSubPr>
                              <m:ctrlPr>
                                <a:rPr lang="en-CA" sz="2799" i="1">
                                  <a:latin typeface="Cambria Math" panose="02040503050406030204" pitchFamily="18" charset="0"/>
                                  <a:ea typeface="Cambria Math" panose="02040503050406030204" pitchFamily="18" charset="0"/>
                                </a:rPr>
                              </m:ctrlPr>
                            </m:sSubPr>
                            <m:e>
                              <m:r>
                                <a:rPr lang="en-CA" sz="2799" i="1">
                                  <a:latin typeface="Cambria Math" panose="02040503050406030204" pitchFamily="18" charset="0"/>
                                  <a:ea typeface="Cambria Math" panose="02040503050406030204" pitchFamily="18" charset="0"/>
                                </a:rPr>
                                <m:t>𝜏</m:t>
                              </m:r>
                            </m:e>
                            <m:sub>
                              <m:r>
                                <a:rPr lang="en-CA" sz="2799" i="1">
                                  <a:latin typeface="Cambria Math" panose="02040503050406030204" pitchFamily="18" charset="0"/>
                                  <a:ea typeface="Cambria Math" panose="02040503050406030204" pitchFamily="18" charset="0"/>
                                </a:rPr>
                                <m:t>𝑆𝑇𝐷𝑃</m:t>
                              </m:r>
                            </m:sub>
                          </m:sSub>
                        </m:sup>
                      </m:sSup>
                    </m:oMath>
                  </m:oMathPara>
                </a14:m>
                <a:endParaRPr lang="en-CA" sz="2799"/>
              </a:p>
            </p:txBody>
          </p:sp>
        </mc:Choice>
        <mc:Fallback xmlns="">
          <p:sp>
            <p:nvSpPr>
              <p:cNvPr id="121" name="TextBox 120">
                <a:extLst>
                  <a:ext uri="{FF2B5EF4-FFF2-40B4-BE49-F238E27FC236}">
                    <a16:creationId xmlns:a16="http://schemas.microsoft.com/office/drawing/2014/main" id="{EB4D6EB4-DBDD-D916-D446-2134A217CCB3}"/>
                  </a:ext>
                </a:extLst>
              </p:cNvPr>
              <p:cNvSpPr txBox="1">
                <a:spLocks noRot="1" noChangeAspect="1" noMove="1" noResize="1" noEditPoints="1" noAdjustHandles="1" noChangeArrowheads="1" noChangeShapeType="1" noTextEdit="1"/>
              </p:cNvSpPr>
              <p:nvPr/>
            </p:nvSpPr>
            <p:spPr>
              <a:xfrm>
                <a:off x="3845304" y="24159859"/>
                <a:ext cx="5812520" cy="1292277"/>
              </a:xfrm>
              <a:prstGeom prst="rect">
                <a:avLst/>
              </a:prstGeom>
              <a:blipFill>
                <a:blip r:embed="rId10"/>
                <a:stretch>
                  <a:fillRect b="-99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63FBAA0F-5A0A-8583-60CA-50184A74992E}"/>
                  </a:ext>
                </a:extLst>
              </p:cNvPr>
              <p:cNvSpPr txBox="1"/>
              <p:nvPr/>
            </p:nvSpPr>
            <p:spPr>
              <a:xfrm>
                <a:off x="4098207" y="25490192"/>
                <a:ext cx="3303155" cy="8822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CA" sz="2799" i="1">
                          <a:latin typeface="Cambria Math" panose="02040503050406030204" pitchFamily="18" charset="0"/>
                        </a:rPr>
                        <m:t>𝑔</m:t>
                      </m:r>
                      <m:r>
                        <a:rPr lang="en-CA" sz="2799" i="1">
                          <a:latin typeface="Cambria Math" panose="02040503050406030204" pitchFamily="18" charset="0"/>
                        </a:rPr>
                        <m:t>→</m:t>
                      </m:r>
                      <m:r>
                        <a:rPr lang="en-CA" sz="2799" i="1">
                          <a:latin typeface="Cambria Math" panose="02040503050406030204" pitchFamily="18" charset="0"/>
                        </a:rPr>
                        <m:t>𝑔</m:t>
                      </m:r>
                      <m:r>
                        <a:rPr lang="en-CA" sz="2799" i="1">
                          <a:latin typeface="Cambria Math" panose="02040503050406030204" pitchFamily="18" charset="0"/>
                        </a:rPr>
                        <m:t>−</m:t>
                      </m:r>
                      <m:sSub>
                        <m:sSubPr>
                          <m:ctrlPr>
                            <a:rPr lang="en-CA" sz="2799" i="1">
                              <a:latin typeface="Cambria Math" panose="02040503050406030204" pitchFamily="18" charset="0"/>
                            </a:rPr>
                          </m:ctrlPr>
                        </m:sSubPr>
                        <m:e>
                          <m:r>
                            <a:rPr lang="en-CA" sz="2799" i="1">
                              <a:latin typeface="Cambria Math" panose="02040503050406030204" pitchFamily="18" charset="0"/>
                            </a:rPr>
                            <m:t>𝑔</m:t>
                          </m:r>
                        </m:e>
                        <m:sub>
                          <m:r>
                            <a:rPr lang="en-CA" sz="2799" i="1">
                              <a:latin typeface="Cambria Math" panose="02040503050406030204" pitchFamily="18" charset="0"/>
                            </a:rPr>
                            <m:t>𝑑</m:t>
                          </m:r>
                          <m:r>
                            <a:rPr lang="en-CA" sz="2799" i="1">
                              <a:latin typeface="Cambria Math" panose="02040503050406030204" pitchFamily="18" charset="0"/>
                            </a:rPr>
                            <m:t> </m:t>
                          </m:r>
                        </m:sub>
                      </m:sSub>
                    </m:oMath>
                    <m:oMath xmlns:m="http://schemas.openxmlformats.org/officeDocument/2006/math">
                      <m:sSub>
                        <m:sSubPr>
                          <m:ctrlPr>
                            <a:rPr lang="en-CA" sz="2799" i="1">
                              <a:latin typeface="Cambria Math" panose="02040503050406030204" pitchFamily="18" charset="0"/>
                            </a:rPr>
                          </m:ctrlPr>
                        </m:sSubPr>
                        <m:e>
                          <m:r>
                            <a:rPr lang="en-CA" sz="2799" i="1">
                              <a:latin typeface="Cambria Math" panose="02040503050406030204" pitchFamily="18" charset="0"/>
                            </a:rPr>
                            <m:t>𝑔</m:t>
                          </m:r>
                        </m:e>
                        <m:sub>
                          <m:r>
                            <a:rPr lang="en-CA" sz="2799" i="1">
                              <a:latin typeface="Cambria Math" panose="02040503050406030204" pitchFamily="18" charset="0"/>
                            </a:rPr>
                            <m:t>𝑑</m:t>
                          </m:r>
                        </m:sub>
                      </m:sSub>
                      <m:r>
                        <a:rPr lang="en-CA" sz="2799" i="1">
                          <a:latin typeface="Cambria Math" panose="02040503050406030204" pitchFamily="18" charset="0"/>
                        </a:rPr>
                        <m:t>=</m:t>
                      </m:r>
                      <m:sSub>
                        <m:sSubPr>
                          <m:ctrlPr>
                            <a:rPr lang="en-CA" sz="2799" i="1">
                              <a:latin typeface="Cambria Math" panose="02040503050406030204" pitchFamily="18" charset="0"/>
                            </a:rPr>
                          </m:ctrlPr>
                        </m:sSubPr>
                        <m:e>
                          <m:r>
                            <a:rPr lang="en-CA" sz="2799" i="1">
                              <a:latin typeface="Cambria Math" panose="02040503050406030204" pitchFamily="18" charset="0"/>
                            </a:rPr>
                            <m:t>𝑐</m:t>
                          </m:r>
                        </m:e>
                        <m:sub>
                          <m:r>
                            <a:rPr lang="en-CA" sz="2799" i="1">
                              <a:latin typeface="Cambria Math" panose="02040503050406030204" pitchFamily="18" charset="0"/>
                            </a:rPr>
                            <m:t>𝑑</m:t>
                          </m:r>
                        </m:sub>
                      </m:sSub>
                      <m:sSup>
                        <m:sSupPr>
                          <m:ctrlPr>
                            <a:rPr lang="en-CA" sz="2799" i="1">
                              <a:latin typeface="Cambria Math" panose="02040503050406030204" pitchFamily="18" charset="0"/>
                            </a:rPr>
                          </m:ctrlPr>
                        </m:sSupPr>
                        <m:e>
                          <m:r>
                            <a:rPr lang="en-CA" sz="2799" i="1">
                              <a:latin typeface="Cambria Math" panose="02040503050406030204" pitchFamily="18" charset="0"/>
                            </a:rPr>
                            <m:t>𝑒</m:t>
                          </m:r>
                        </m:e>
                        <m:sup>
                          <m:r>
                            <a:rPr lang="en-CA" sz="2799" i="1">
                              <a:latin typeface="Cambria Math" panose="02040503050406030204" pitchFamily="18" charset="0"/>
                            </a:rPr>
                            <m:t>−</m:t>
                          </m:r>
                          <m:r>
                            <a:rPr lang="en-CA" sz="2799" i="1">
                              <a:latin typeface="Cambria Math" panose="02040503050406030204" pitchFamily="18" charset="0"/>
                              <a:ea typeface="Cambria Math" panose="02040503050406030204" pitchFamily="18" charset="0"/>
                            </a:rPr>
                            <m:t>𝛿</m:t>
                          </m:r>
                          <m:r>
                            <a:rPr lang="en-CA" sz="2799" i="1">
                              <a:latin typeface="Cambria Math" panose="02040503050406030204" pitchFamily="18" charset="0"/>
                              <a:ea typeface="Cambria Math" panose="02040503050406030204" pitchFamily="18" charset="0"/>
                            </a:rPr>
                            <m:t>𝑡</m:t>
                          </m:r>
                          <m:r>
                            <a:rPr lang="en-CA" sz="2799" i="1">
                              <a:latin typeface="Cambria Math" panose="02040503050406030204" pitchFamily="18" charset="0"/>
                              <a:ea typeface="Cambria Math" panose="02040503050406030204" pitchFamily="18" charset="0"/>
                            </a:rPr>
                            <m:t>/</m:t>
                          </m:r>
                          <m:sSub>
                            <m:sSubPr>
                              <m:ctrlPr>
                                <a:rPr lang="en-CA" sz="2799" i="1">
                                  <a:latin typeface="Cambria Math" panose="02040503050406030204" pitchFamily="18" charset="0"/>
                                  <a:ea typeface="Cambria Math" panose="02040503050406030204" pitchFamily="18" charset="0"/>
                                </a:rPr>
                              </m:ctrlPr>
                            </m:sSubPr>
                            <m:e>
                              <m:r>
                                <a:rPr lang="en-CA" sz="2799" i="1">
                                  <a:latin typeface="Cambria Math" panose="02040503050406030204" pitchFamily="18" charset="0"/>
                                  <a:ea typeface="Cambria Math" panose="02040503050406030204" pitchFamily="18" charset="0"/>
                                </a:rPr>
                                <m:t>𝜏</m:t>
                              </m:r>
                            </m:e>
                            <m:sub>
                              <m:r>
                                <a:rPr lang="en-CA" sz="2799" i="1">
                                  <a:latin typeface="Cambria Math" panose="02040503050406030204" pitchFamily="18" charset="0"/>
                                  <a:ea typeface="Cambria Math" panose="02040503050406030204" pitchFamily="18" charset="0"/>
                                </a:rPr>
                                <m:t>𝑆𝑇𝐷𝑃</m:t>
                              </m:r>
                            </m:sub>
                          </m:sSub>
                        </m:sup>
                      </m:sSup>
                    </m:oMath>
                  </m:oMathPara>
                </a14:m>
                <a:endParaRPr lang="en-CA" sz="2799"/>
              </a:p>
            </p:txBody>
          </p:sp>
        </mc:Choice>
        <mc:Fallback xmlns="">
          <p:sp>
            <p:nvSpPr>
              <p:cNvPr id="122" name="TextBox 121">
                <a:extLst>
                  <a:ext uri="{FF2B5EF4-FFF2-40B4-BE49-F238E27FC236}">
                    <a16:creationId xmlns:a16="http://schemas.microsoft.com/office/drawing/2014/main" id="{63FBAA0F-5A0A-8583-60CA-50184A74992E}"/>
                  </a:ext>
                </a:extLst>
              </p:cNvPr>
              <p:cNvSpPr txBox="1">
                <a:spLocks noRot="1" noChangeAspect="1" noMove="1" noResize="1" noEditPoints="1" noAdjustHandles="1" noChangeArrowheads="1" noChangeShapeType="1" noTextEdit="1"/>
              </p:cNvSpPr>
              <p:nvPr/>
            </p:nvSpPr>
            <p:spPr>
              <a:xfrm>
                <a:off x="4098207" y="25490192"/>
                <a:ext cx="3303155" cy="882229"/>
              </a:xfrm>
              <a:prstGeom prst="rect">
                <a:avLst/>
              </a:prstGeom>
              <a:blipFill>
                <a:blip r:embed="rId11"/>
                <a:stretch>
                  <a:fillRect/>
                </a:stretch>
              </a:blipFill>
            </p:spPr>
            <p:txBody>
              <a:bodyPr/>
              <a:lstStyle/>
              <a:p>
                <a:r>
                  <a:rPr lang="en-US">
                    <a:noFill/>
                  </a:rPr>
                  <a:t> </a:t>
                </a:r>
              </a:p>
            </p:txBody>
          </p:sp>
        </mc:Fallback>
      </mc:AlternateContent>
      <p:sp>
        <p:nvSpPr>
          <p:cNvPr id="123" name="Left Brace 122">
            <a:extLst>
              <a:ext uri="{FF2B5EF4-FFF2-40B4-BE49-F238E27FC236}">
                <a16:creationId xmlns:a16="http://schemas.microsoft.com/office/drawing/2014/main" id="{D5E60813-D829-A4A3-5ED7-56C8A1B00AED}"/>
              </a:ext>
            </a:extLst>
          </p:cNvPr>
          <p:cNvSpPr/>
          <p:nvPr/>
        </p:nvSpPr>
        <p:spPr>
          <a:xfrm>
            <a:off x="3429447" y="25443508"/>
            <a:ext cx="627907" cy="1027277"/>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CA" sz="2799"/>
          </a:p>
        </p:txBody>
      </p:sp>
      <p:sp>
        <p:nvSpPr>
          <p:cNvPr id="125" name="TextBox 124">
            <a:extLst>
              <a:ext uri="{FF2B5EF4-FFF2-40B4-BE49-F238E27FC236}">
                <a16:creationId xmlns:a16="http://schemas.microsoft.com/office/drawing/2014/main" id="{665FE187-6606-00E6-C375-190BE16F4C1D}"/>
              </a:ext>
            </a:extLst>
          </p:cNvPr>
          <p:cNvSpPr txBox="1"/>
          <p:nvPr/>
        </p:nvSpPr>
        <p:spPr>
          <a:xfrm>
            <a:off x="1189027" y="29672918"/>
            <a:ext cx="4428585" cy="584775"/>
          </a:xfrm>
          <a:prstGeom prst="rect">
            <a:avLst/>
          </a:prstGeom>
          <a:noFill/>
        </p:spPr>
        <p:txBody>
          <a:bodyPr wrap="none" rtlCol="0">
            <a:spAutoFit/>
          </a:bodyPr>
          <a:lstStyle/>
          <a:p>
            <a:r>
              <a:rPr lang="en-CA" sz="3200" b="1">
                <a:latin typeface="Arial" panose="020B0604020202020204" pitchFamily="34" charset="0"/>
                <a:cs typeface="Arial" panose="020B0604020202020204" pitchFamily="34" charset="0"/>
              </a:rPr>
              <a:t>Network Architecture </a:t>
            </a:r>
          </a:p>
        </p:txBody>
      </p:sp>
      <p:pic>
        <p:nvPicPr>
          <p:cNvPr id="126" name="Picture 125" descr="A diagram of an energy source&#10;&#10;Description automatically generated">
            <a:extLst>
              <a:ext uri="{FF2B5EF4-FFF2-40B4-BE49-F238E27FC236}">
                <a16:creationId xmlns:a16="http://schemas.microsoft.com/office/drawing/2014/main" id="{449EF6E0-2990-EBF1-3BAA-0738CCA7E279}"/>
              </a:ext>
            </a:extLst>
          </p:cNvPr>
          <p:cNvPicPr>
            <a:picLocks noChangeAspect="1"/>
          </p:cNvPicPr>
          <p:nvPr/>
        </p:nvPicPr>
        <p:blipFill rotWithShape="1">
          <a:blip r:embed="rId12">
            <a:extLst>
              <a:ext uri="{28A0092B-C50C-407E-A947-70E740481C1C}">
                <a14:useLocalDpi xmlns:a14="http://schemas.microsoft.com/office/drawing/2010/main" val="0"/>
              </a:ext>
            </a:extLst>
          </a:blip>
          <a:srcRect l="30216" t="26506" r="28980" b="29881"/>
          <a:stretch/>
        </p:blipFill>
        <p:spPr>
          <a:xfrm>
            <a:off x="2438410" y="30222464"/>
            <a:ext cx="7052833" cy="5653736"/>
          </a:xfrm>
          <a:prstGeom prst="rect">
            <a:avLst/>
          </a:prstGeom>
        </p:spPr>
      </p:pic>
      <p:sp>
        <p:nvSpPr>
          <p:cNvPr id="129" name="TextBox 128">
            <a:extLst>
              <a:ext uri="{FF2B5EF4-FFF2-40B4-BE49-F238E27FC236}">
                <a16:creationId xmlns:a16="http://schemas.microsoft.com/office/drawing/2014/main" id="{4CB7B154-F408-BC40-00E8-97758E75419A}"/>
              </a:ext>
            </a:extLst>
          </p:cNvPr>
          <p:cNvSpPr txBox="1"/>
          <p:nvPr/>
        </p:nvSpPr>
        <p:spPr>
          <a:xfrm>
            <a:off x="1125083" y="18183786"/>
            <a:ext cx="8107945" cy="584775"/>
          </a:xfrm>
          <a:prstGeom prst="rect">
            <a:avLst/>
          </a:prstGeom>
          <a:noFill/>
        </p:spPr>
        <p:txBody>
          <a:bodyPr wrap="square" rtlCol="0">
            <a:spAutoFit/>
          </a:bodyPr>
          <a:lstStyle/>
          <a:p>
            <a:r>
              <a:rPr lang="en-CA" sz="3200" b="1">
                <a:latin typeface="Arial" panose="020B0604020202020204" pitchFamily="34" charset="0"/>
                <a:cs typeface="Arial" panose="020B0604020202020204" pitchFamily="34" charset="0"/>
              </a:rPr>
              <a:t>Input Current Model </a:t>
            </a:r>
          </a:p>
        </p:txBody>
      </p:sp>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5159A560-22E3-1AFD-E1CE-CFB2616DC051}"/>
                  </a:ext>
                </a:extLst>
              </p:cNvPr>
              <p:cNvSpPr txBox="1"/>
              <p:nvPr/>
            </p:nvSpPr>
            <p:spPr>
              <a:xfrm>
                <a:off x="2028668" y="19033138"/>
                <a:ext cx="5203925" cy="424796"/>
              </a:xfrm>
              <a:prstGeom prst="rect">
                <a:avLst/>
              </a:prstGeom>
              <a:noFill/>
            </p:spPr>
            <p:txBody>
              <a:bodyPr wrap="none" rtlCol="0">
                <a:spAutoFit/>
              </a:bodyPr>
              <a:lstStyle/>
              <a:p>
                <a:r>
                  <a:rPr lang="en-CA" sz="2000">
                    <a:latin typeface="Arial" panose="020B0604020202020204" pitchFamily="34" charset="0"/>
                    <a:cs typeface="Arial" panose="020B0604020202020204" pitchFamily="34" charset="0"/>
                  </a:rPr>
                  <a:t>Unit Post Synaptic Current Modulated by </a:t>
                </a:r>
                <a14:m>
                  <m:oMath xmlns:m="http://schemas.openxmlformats.org/officeDocument/2006/math">
                    <m:sSub>
                      <m:sSubPr>
                        <m:ctrlPr>
                          <a:rPr lang="en-CA" sz="2000" i="1">
                            <a:latin typeface="Cambria Math" panose="02040503050406030204" pitchFamily="18" charset="0"/>
                            <a:cs typeface="Arial" panose="020B0604020202020204" pitchFamily="34" charset="0"/>
                          </a:rPr>
                        </m:ctrlPr>
                      </m:sSubPr>
                      <m:e>
                        <m:r>
                          <a:rPr lang="en-CA" sz="2000" i="1">
                            <a:latin typeface="Cambria Math" panose="02040503050406030204" pitchFamily="18" charset="0"/>
                            <a:cs typeface="Arial" panose="020B0604020202020204" pitchFamily="34" charset="0"/>
                          </a:rPr>
                          <m:t>𝑔</m:t>
                        </m:r>
                      </m:e>
                      <m:sub>
                        <m:r>
                          <a:rPr lang="en-CA" sz="2000" i="1">
                            <a:latin typeface="Cambria Math" panose="02040503050406030204" pitchFamily="18" charset="0"/>
                            <a:cs typeface="Arial" panose="020B0604020202020204" pitchFamily="34" charset="0"/>
                          </a:rPr>
                          <m:t>𝑖𝑗</m:t>
                        </m:r>
                      </m:sub>
                    </m:sSub>
                  </m:oMath>
                </a14:m>
                <a:endParaRPr lang="en-CA" sz="2000">
                  <a:latin typeface="Arial" panose="020B0604020202020204" pitchFamily="34" charset="0"/>
                  <a:cs typeface="Arial" panose="020B0604020202020204" pitchFamily="34" charset="0"/>
                </a:endParaRPr>
              </a:p>
            </p:txBody>
          </p:sp>
        </mc:Choice>
        <mc:Fallback xmlns="">
          <p:sp>
            <p:nvSpPr>
              <p:cNvPr id="136" name="TextBox 135">
                <a:extLst>
                  <a:ext uri="{FF2B5EF4-FFF2-40B4-BE49-F238E27FC236}">
                    <a16:creationId xmlns:a16="http://schemas.microsoft.com/office/drawing/2014/main" id="{5159A560-22E3-1AFD-E1CE-CFB2616DC051}"/>
                  </a:ext>
                </a:extLst>
              </p:cNvPr>
              <p:cNvSpPr txBox="1">
                <a:spLocks noRot="1" noChangeAspect="1" noMove="1" noResize="1" noEditPoints="1" noAdjustHandles="1" noChangeArrowheads="1" noChangeShapeType="1" noTextEdit="1"/>
              </p:cNvSpPr>
              <p:nvPr/>
            </p:nvSpPr>
            <p:spPr>
              <a:xfrm>
                <a:off x="2028668" y="19033138"/>
                <a:ext cx="5203925" cy="424796"/>
              </a:xfrm>
              <a:prstGeom prst="rect">
                <a:avLst/>
              </a:prstGeom>
              <a:blipFill>
                <a:blip r:embed="rId13"/>
                <a:stretch>
                  <a:fillRect l="-1290" t="-7143" b="-18571"/>
                </a:stretch>
              </a:blipFill>
            </p:spPr>
            <p:txBody>
              <a:bodyPr/>
              <a:lstStyle/>
              <a:p>
                <a:r>
                  <a:rPr lang="en-US">
                    <a:noFill/>
                  </a:rPr>
                  <a:t> </a:t>
                </a:r>
              </a:p>
            </p:txBody>
          </p:sp>
        </mc:Fallback>
      </mc:AlternateContent>
      <p:sp>
        <p:nvSpPr>
          <p:cNvPr id="149" name="Oval 148">
            <a:extLst>
              <a:ext uri="{FF2B5EF4-FFF2-40B4-BE49-F238E27FC236}">
                <a16:creationId xmlns:a16="http://schemas.microsoft.com/office/drawing/2014/main" id="{962CACEC-F7E9-5E54-FF67-386DDC45471F}"/>
              </a:ext>
            </a:extLst>
          </p:cNvPr>
          <p:cNvSpPr/>
          <p:nvPr/>
        </p:nvSpPr>
        <p:spPr>
          <a:xfrm>
            <a:off x="5248275" y="19881276"/>
            <a:ext cx="625743" cy="326553"/>
          </a:xfrm>
          <a:prstGeom prst="ellipse">
            <a:avLst/>
          </a:prstGeom>
          <a:solidFill>
            <a:schemeClr val="bg1"/>
          </a:solid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799"/>
          </a:p>
        </p:txBody>
      </p:sp>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883F68F7-391E-4DAF-06E2-2F5CD37A3B98}"/>
                  </a:ext>
                </a:extLst>
              </p:cNvPr>
              <p:cNvSpPr txBox="1"/>
              <p:nvPr/>
            </p:nvSpPr>
            <p:spPr>
              <a:xfrm>
                <a:off x="2000977" y="19710676"/>
                <a:ext cx="6378528" cy="10303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2400" i="1" smtClean="0">
                              <a:latin typeface="Cambria Math" panose="02040503050406030204" pitchFamily="18" charset="0"/>
                              <a:cs typeface="Arial" panose="020B0604020202020204" pitchFamily="34" charset="0"/>
                            </a:rPr>
                          </m:ctrlPr>
                        </m:sSubPr>
                        <m:e>
                          <m:r>
                            <a:rPr lang="en-CA" sz="2400" i="1">
                              <a:latin typeface="Cambria Math" panose="02040503050406030204" pitchFamily="18" charset="0"/>
                              <a:cs typeface="Arial" panose="020B0604020202020204" pitchFamily="34" charset="0"/>
                            </a:rPr>
                            <m:t>𝐼</m:t>
                          </m:r>
                        </m:e>
                        <m:sub>
                          <m:r>
                            <a:rPr lang="en-CA" sz="2400" i="1">
                              <a:latin typeface="Cambria Math" panose="02040503050406030204" pitchFamily="18" charset="0"/>
                              <a:cs typeface="Arial" panose="020B0604020202020204" pitchFamily="34" charset="0"/>
                            </a:rPr>
                            <m:t>𝑖</m:t>
                          </m:r>
                        </m:sub>
                      </m:sSub>
                      <m:r>
                        <a:rPr lang="en-CA" sz="2400" i="1">
                          <a:latin typeface="Cambria Math" panose="02040503050406030204" pitchFamily="18" charset="0"/>
                          <a:cs typeface="Arial" panose="020B0604020202020204" pitchFamily="34" charset="0"/>
                        </a:rPr>
                        <m:t>=</m:t>
                      </m:r>
                      <m:nary>
                        <m:naryPr>
                          <m:chr m:val="∑"/>
                          <m:supHide m:val="on"/>
                          <m:ctrlPr>
                            <a:rPr lang="en-CA" sz="2400" i="1" smtClean="0">
                              <a:latin typeface="Cambria Math" panose="02040503050406030204" pitchFamily="18" charset="0"/>
                              <a:cs typeface="Arial" panose="020B0604020202020204" pitchFamily="34" charset="0"/>
                            </a:rPr>
                          </m:ctrlPr>
                        </m:naryPr>
                        <m:sub>
                          <m:r>
                            <m:rPr>
                              <m:brk m:alnAt="7"/>
                            </m:rPr>
                            <a:rPr lang="en-CA" sz="2400" b="0" i="1" smtClean="0">
                              <a:latin typeface="Cambria Math" panose="02040503050406030204" pitchFamily="18" charset="0"/>
                              <a:cs typeface="Arial" panose="020B0604020202020204" pitchFamily="34" charset="0"/>
                            </a:rPr>
                            <m:t>𝑗</m:t>
                          </m:r>
                          <m:r>
                            <a:rPr lang="en-CA" sz="2400" b="0" i="1" smtClean="0">
                              <a:latin typeface="Cambria Math" panose="02040503050406030204" pitchFamily="18" charset="0"/>
                              <a:cs typeface="Arial" panose="020B0604020202020204" pitchFamily="34" charset="0"/>
                            </a:rPr>
                            <m:t> </m:t>
                          </m:r>
                          <m:r>
                            <a:rPr lang="en-CA" sz="2400" b="0" i="1" smtClean="0">
                              <a:latin typeface="Cambria Math" panose="02040503050406030204" pitchFamily="18" charset="0"/>
                              <a:ea typeface="Cambria Math" panose="02040503050406030204" pitchFamily="18" charset="0"/>
                              <a:cs typeface="Arial" panose="020B0604020202020204" pitchFamily="34" charset="0"/>
                            </a:rPr>
                            <m:t>𝜖</m:t>
                          </m:r>
                          <m:r>
                            <a:rPr lang="en-CA" sz="2400" b="0" i="1" smtClean="0">
                              <a:latin typeface="Cambria Math" panose="02040503050406030204" pitchFamily="18" charset="0"/>
                              <a:ea typeface="Cambria Math" panose="02040503050406030204" pitchFamily="18" charset="0"/>
                              <a:cs typeface="Arial" panose="020B0604020202020204" pitchFamily="34" charset="0"/>
                            </a:rPr>
                            <m:t> </m:t>
                          </m:r>
                          <m:r>
                            <a:rPr lang="en-CA" sz="2400" b="0" i="1" smtClean="0">
                              <a:latin typeface="Cambria Math" panose="02040503050406030204" pitchFamily="18" charset="0"/>
                              <a:ea typeface="Cambria Math" panose="02040503050406030204" pitchFamily="18" charset="0"/>
                              <a:cs typeface="Arial" panose="020B0604020202020204" pitchFamily="34" charset="0"/>
                            </a:rPr>
                            <m:t>𝑛𝑒𝑖𝑔h𝑏𝑜𝑟𝑠</m:t>
                          </m:r>
                          <m:r>
                            <a:rPr lang="en-CA" sz="2400" b="0" i="1" smtClean="0">
                              <a:latin typeface="Cambria Math" panose="02040503050406030204" pitchFamily="18" charset="0"/>
                              <a:ea typeface="Cambria Math" panose="02040503050406030204" pitchFamily="18" charset="0"/>
                              <a:cs typeface="Arial" panose="020B0604020202020204" pitchFamily="34" charset="0"/>
                            </a:rPr>
                            <m:t>(</m:t>
                          </m:r>
                          <m:r>
                            <a:rPr lang="en-CA" sz="2400" b="0" i="1" smtClean="0">
                              <a:latin typeface="Cambria Math" panose="02040503050406030204" pitchFamily="18" charset="0"/>
                              <a:ea typeface="Cambria Math" panose="02040503050406030204" pitchFamily="18" charset="0"/>
                              <a:cs typeface="Arial" panose="020B0604020202020204" pitchFamily="34" charset="0"/>
                            </a:rPr>
                            <m:t>𝑖</m:t>
                          </m:r>
                          <m:r>
                            <a:rPr lang="en-CA" sz="2400" b="0" i="1" smtClean="0">
                              <a:latin typeface="Cambria Math" panose="02040503050406030204" pitchFamily="18" charset="0"/>
                              <a:ea typeface="Cambria Math" panose="02040503050406030204" pitchFamily="18" charset="0"/>
                              <a:cs typeface="Arial" panose="020B0604020202020204" pitchFamily="34" charset="0"/>
                            </a:rPr>
                            <m:t>)</m:t>
                          </m:r>
                        </m:sub>
                        <m:sup/>
                        <m:e>
                          <m:sSub>
                            <m:sSubPr>
                              <m:ctrlPr>
                                <a:rPr lang="en-CA" sz="2400" i="1">
                                  <a:latin typeface="Cambria Math" panose="02040503050406030204" pitchFamily="18" charset="0"/>
                                  <a:cs typeface="Arial" panose="020B0604020202020204" pitchFamily="34" charset="0"/>
                                </a:rPr>
                              </m:ctrlPr>
                            </m:sSubPr>
                            <m:e>
                              <m:r>
                                <a:rPr lang="en-CA" sz="2400" i="1">
                                  <a:latin typeface="Cambria Math" panose="02040503050406030204" pitchFamily="18" charset="0"/>
                                  <a:cs typeface="Arial" panose="020B0604020202020204" pitchFamily="34" charset="0"/>
                                </a:rPr>
                                <m:t>𝑔</m:t>
                              </m:r>
                            </m:e>
                            <m:sub>
                              <m:r>
                                <a:rPr lang="en-CA" sz="2400" i="1">
                                  <a:latin typeface="Cambria Math" panose="02040503050406030204" pitchFamily="18" charset="0"/>
                                  <a:cs typeface="Arial" panose="020B0604020202020204" pitchFamily="34" charset="0"/>
                                </a:rPr>
                                <m:t>𝑖𝑗</m:t>
                              </m:r>
                            </m:sub>
                          </m:sSub>
                          <m:sSubSup>
                            <m:sSubSupPr>
                              <m:ctrlPr>
                                <a:rPr lang="en-CA" sz="2400" i="1">
                                  <a:latin typeface="Cambria Math" panose="02040503050406030204" pitchFamily="18" charset="0"/>
                                  <a:cs typeface="Arial" panose="020B0604020202020204" pitchFamily="34" charset="0"/>
                                </a:rPr>
                              </m:ctrlPr>
                            </m:sSubSupPr>
                            <m:e>
                              <m:r>
                                <a:rPr lang="en-CA" sz="2400" i="1">
                                  <a:latin typeface="Cambria Math" panose="02040503050406030204" pitchFamily="18" charset="0"/>
                                  <a:cs typeface="Arial" panose="020B0604020202020204" pitchFamily="34" charset="0"/>
                                </a:rPr>
                                <m:t>𝐼</m:t>
                              </m:r>
                            </m:e>
                            <m:sub>
                              <m:r>
                                <a:rPr lang="en-CA" sz="2400" i="1">
                                  <a:latin typeface="Cambria Math" panose="02040503050406030204" pitchFamily="18" charset="0"/>
                                  <a:cs typeface="Arial" panose="020B0604020202020204" pitchFamily="34" charset="0"/>
                                </a:rPr>
                                <m:t>𝑗</m:t>
                              </m:r>
                            </m:sub>
                            <m:sup>
                              <m:r>
                                <a:rPr lang="en-CA" sz="2400" i="1">
                                  <a:latin typeface="Cambria Math" panose="02040503050406030204" pitchFamily="18" charset="0"/>
                                  <a:cs typeface="Arial" panose="020B0604020202020204" pitchFamily="34" charset="0"/>
                                </a:rPr>
                                <m:t>𝑃𝑆𝐶</m:t>
                              </m:r>
                            </m:sup>
                          </m:sSubSup>
                        </m:e>
                      </m:nary>
                      <m:r>
                        <a:rPr lang="en-CA" sz="2400" i="1">
                          <a:latin typeface="Cambria Math" panose="02040503050406030204" pitchFamily="18" charset="0"/>
                          <a:cs typeface="Arial" panose="020B0604020202020204" pitchFamily="34" charset="0"/>
                        </a:rPr>
                        <m:t>+</m:t>
                      </m:r>
                      <m:sSubSup>
                        <m:sSubSupPr>
                          <m:ctrlPr>
                            <a:rPr lang="en-CA" sz="2400" i="1">
                              <a:latin typeface="Cambria Math" panose="02040503050406030204" pitchFamily="18" charset="0"/>
                              <a:cs typeface="Arial" panose="020B0604020202020204" pitchFamily="34" charset="0"/>
                            </a:rPr>
                          </m:ctrlPr>
                        </m:sSubSupPr>
                        <m:e>
                          <m:r>
                            <a:rPr lang="en-CA" sz="2400" i="1">
                              <a:latin typeface="Cambria Math" panose="02040503050406030204" pitchFamily="18" charset="0"/>
                              <a:cs typeface="Arial" panose="020B0604020202020204" pitchFamily="34" charset="0"/>
                            </a:rPr>
                            <m:t>𝐼</m:t>
                          </m:r>
                        </m:e>
                        <m:sub>
                          <m:r>
                            <a:rPr lang="en-CA" sz="2400" i="1">
                              <a:latin typeface="Cambria Math" panose="02040503050406030204" pitchFamily="18" charset="0"/>
                              <a:cs typeface="Arial" panose="020B0604020202020204" pitchFamily="34" charset="0"/>
                            </a:rPr>
                            <m:t>𝑖</m:t>
                          </m:r>
                        </m:sub>
                        <m:sup>
                          <m:r>
                            <a:rPr lang="en-CA" sz="2400" i="1">
                              <a:latin typeface="Cambria Math" panose="02040503050406030204" pitchFamily="18" charset="0"/>
                              <a:cs typeface="Arial" panose="020B0604020202020204" pitchFamily="34" charset="0"/>
                            </a:rPr>
                            <m:t>𝑛𝑜𝑖𝑠𝑒</m:t>
                          </m:r>
                        </m:sup>
                      </m:sSubSup>
                      <m:r>
                        <a:rPr lang="en-CA" sz="2400" i="1">
                          <a:latin typeface="Cambria Math" panose="02040503050406030204" pitchFamily="18" charset="0"/>
                          <a:cs typeface="Arial" panose="020B0604020202020204" pitchFamily="34" charset="0"/>
                        </a:rPr>
                        <m:t>+</m:t>
                      </m:r>
                      <m:sSubSup>
                        <m:sSubSupPr>
                          <m:ctrlPr>
                            <a:rPr lang="en-CA" sz="2400" i="1">
                              <a:latin typeface="Cambria Math" panose="02040503050406030204" pitchFamily="18" charset="0"/>
                              <a:cs typeface="Arial" panose="020B0604020202020204" pitchFamily="34" charset="0"/>
                            </a:rPr>
                          </m:ctrlPr>
                        </m:sSubSupPr>
                        <m:e>
                          <m:r>
                            <a:rPr lang="en-CA" sz="2400" i="1">
                              <a:latin typeface="Cambria Math" panose="02040503050406030204" pitchFamily="18" charset="0"/>
                              <a:cs typeface="Arial" panose="020B0604020202020204" pitchFamily="34" charset="0"/>
                            </a:rPr>
                            <m:t>𝐼</m:t>
                          </m:r>
                        </m:e>
                        <m:sub>
                          <m:r>
                            <a:rPr lang="en-CA" sz="2400" i="1">
                              <a:latin typeface="Cambria Math" panose="02040503050406030204" pitchFamily="18" charset="0"/>
                              <a:cs typeface="Arial" panose="020B0604020202020204" pitchFamily="34" charset="0"/>
                            </a:rPr>
                            <m:t>𝑖</m:t>
                          </m:r>
                        </m:sub>
                        <m:sup>
                          <m:r>
                            <a:rPr lang="en-CA" sz="2400" i="1">
                              <a:latin typeface="Cambria Math" panose="02040503050406030204" pitchFamily="18" charset="0"/>
                              <a:cs typeface="Arial" panose="020B0604020202020204" pitchFamily="34" charset="0"/>
                            </a:rPr>
                            <m:t>𝑠𝑡𝑖𝑚</m:t>
                          </m:r>
                        </m:sup>
                      </m:sSubSup>
                    </m:oMath>
                  </m:oMathPara>
                </a14:m>
                <a:endParaRPr lang="en-CA" sz="2800">
                  <a:latin typeface="Arial" panose="020B0604020202020204" pitchFamily="34" charset="0"/>
                  <a:cs typeface="Arial" panose="020B0604020202020204" pitchFamily="34" charset="0"/>
                </a:endParaRPr>
              </a:p>
            </p:txBody>
          </p:sp>
        </mc:Choice>
        <mc:Fallback xmlns="">
          <p:sp>
            <p:nvSpPr>
              <p:cNvPr id="150" name="TextBox 149">
                <a:extLst>
                  <a:ext uri="{FF2B5EF4-FFF2-40B4-BE49-F238E27FC236}">
                    <a16:creationId xmlns:a16="http://schemas.microsoft.com/office/drawing/2014/main" id="{883F68F7-391E-4DAF-06E2-2F5CD37A3B98}"/>
                  </a:ext>
                </a:extLst>
              </p:cNvPr>
              <p:cNvSpPr txBox="1">
                <a:spLocks noRot="1" noChangeAspect="1" noMove="1" noResize="1" noEditPoints="1" noAdjustHandles="1" noChangeArrowheads="1" noChangeShapeType="1" noTextEdit="1"/>
              </p:cNvSpPr>
              <p:nvPr/>
            </p:nvSpPr>
            <p:spPr>
              <a:xfrm>
                <a:off x="2000977" y="19710676"/>
                <a:ext cx="6378528" cy="1030347"/>
              </a:xfrm>
              <a:prstGeom prst="rect">
                <a:avLst/>
              </a:prstGeom>
              <a:blipFill>
                <a:blip r:embed="rId14"/>
                <a:stretch>
                  <a:fillRect/>
                </a:stretch>
              </a:blipFill>
            </p:spPr>
            <p:txBody>
              <a:bodyPr/>
              <a:lstStyle/>
              <a:p>
                <a:r>
                  <a:rPr lang="en-US">
                    <a:noFill/>
                  </a:rPr>
                  <a:t> </a:t>
                </a:r>
              </a:p>
            </p:txBody>
          </p:sp>
        </mc:Fallback>
      </mc:AlternateContent>
      <p:pic>
        <p:nvPicPr>
          <p:cNvPr id="169" name="Picture 168" descr="A close-up of a white background&#10;&#10;Description automatically generated">
            <a:extLst>
              <a:ext uri="{FF2B5EF4-FFF2-40B4-BE49-F238E27FC236}">
                <a16:creationId xmlns:a16="http://schemas.microsoft.com/office/drawing/2014/main" id="{764B045B-B817-4F9F-8747-AB9DF132F4DC}"/>
              </a:ext>
            </a:extLst>
          </p:cNvPr>
          <p:cNvPicPr>
            <a:picLocks noChangeAspect="1"/>
          </p:cNvPicPr>
          <p:nvPr/>
        </p:nvPicPr>
        <p:blipFill rotWithShape="1">
          <a:blip r:embed="rId15">
            <a:extLst>
              <a:ext uri="{28A0092B-C50C-407E-A947-70E740481C1C}">
                <a14:useLocalDpi xmlns:a14="http://schemas.microsoft.com/office/drawing/2010/main" val="0"/>
              </a:ext>
            </a:extLst>
          </a:blip>
          <a:srcRect l="9441" t="41642" r="36179" b="48041"/>
          <a:stretch/>
        </p:blipFill>
        <p:spPr>
          <a:xfrm>
            <a:off x="1170381" y="20743219"/>
            <a:ext cx="8602386" cy="2307335"/>
          </a:xfrm>
          <a:prstGeom prst="rect">
            <a:avLst/>
          </a:prstGeom>
        </p:spPr>
      </p:pic>
      <p:pic>
        <p:nvPicPr>
          <p:cNvPr id="171" name="Picture 170" descr="A close-up of a chart&#10;&#10;Description automatically generated">
            <a:extLst>
              <a:ext uri="{FF2B5EF4-FFF2-40B4-BE49-F238E27FC236}">
                <a16:creationId xmlns:a16="http://schemas.microsoft.com/office/drawing/2014/main" id="{474799F2-EF1E-EFBC-E6B2-D7D82186368D}"/>
              </a:ext>
            </a:extLst>
          </p:cNvPr>
          <p:cNvPicPr>
            <a:picLocks noChangeAspect="1"/>
          </p:cNvPicPr>
          <p:nvPr/>
        </p:nvPicPr>
        <p:blipFill rotWithShape="1">
          <a:blip r:embed="rId16">
            <a:extLst>
              <a:ext uri="{28A0092B-C50C-407E-A947-70E740481C1C}">
                <a14:useLocalDpi xmlns:a14="http://schemas.microsoft.com/office/drawing/2010/main" val="0"/>
              </a:ext>
            </a:extLst>
          </a:blip>
          <a:srcRect l="13406" t="40203" r="41844" b="49247"/>
          <a:stretch/>
        </p:blipFill>
        <p:spPr>
          <a:xfrm>
            <a:off x="1225322" y="26625163"/>
            <a:ext cx="8492504" cy="2830792"/>
          </a:xfrm>
          <a:prstGeom prst="rect">
            <a:avLst/>
          </a:prstGeom>
        </p:spPr>
      </p:pic>
      <p:sp>
        <p:nvSpPr>
          <p:cNvPr id="9" name="TextBox 8">
            <a:extLst>
              <a:ext uri="{FF2B5EF4-FFF2-40B4-BE49-F238E27FC236}">
                <a16:creationId xmlns:a16="http://schemas.microsoft.com/office/drawing/2014/main" id="{4BD1BC47-A790-D05F-EE50-843190C9DEE5}"/>
              </a:ext>
            </a:extLst>
          </p:cNvPr>
          <p:cNvSpPr txBox="1"/>
          <p:nvPr/>
        </p:nvSpPr>
        <p:spPr>
          <a:xfrm>
            <a:off x="1177647" y="31064735"/>
            <a:ext cx="2982767"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Plasticity is applied here</a:t>
            </a:r>
          </a:p>
        </p:txBody>
      </p:sp>
      <p:cxnSp>
        <p:nvCxnSpPr>
          <p:cNvPr id="13" name="Straight Arrow Connector 12">
            <a:extLst>
              <a:ext uri="{FF2B5EF4-FFF2-40B4-BE49-F238E27FC236}">
                <a16:creationId xmlns:a16="http://schemas.microsoft.com/office/drawing/2014/main" id="{2EE66754-2114-15B6-EDCF-485ECF3F529F}"/>
              </a:ext>
            </a:extLst>
          </p:cNvPr>
          <p:cNvCxnSpPr>
            <a:cxnSpLocks/>
            <a:stCxn id="9" idx="2"/>
          </p:cNvCxnSpPr>
          <p:nvPr/>
        </p:nvCxnSpPr>
        <p:spPr>
          <a:xfrm>
            <a:off x="2669031" y="31434067"/>
            <a:ext cx="136376" cy="7761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6BC87D5-DD47-FD29-3434-7F79B8C3CD1B}"/>
              </a:ext>
            </a:extLst>
          </p:cNvPr>
          <p:cNvSpPr txBox="1"/>
          <p:nvPr/>
        </p:nvSpPr>
        <p:spPr>
          <a:xfrm>
            <a:off x="1294816" y="35687988"/>
            <a:ext cx="5994381" cy="1077218"/>
          </a:xfrm>
          <a:prstGeom prst="rect">
            <a:avLst/>
          </a:prstGeom>
          <a:noFill/>
        </p:spPr>
        <p:txBody>
          <a:bodyPr wrap="square" rtlCol="0">
            <a:spAutoFit/>
          </a:bodyPr>
          <a:lstStyle/>
          <a:p>
            <a:r>
              <a:rPr lang="en-CA" sz="3200" b="1">
                <a:latin typeface="Arial" panose="020B0604020202020204" pitchFamily="34" charset="0"/>
                <a:cs typeface="Arial" panose="020B0604020202020204" pitchFamily="34" charset="0"/>
              </a:rPr>
              <a:t>Stimulation and Noise Protocol </a:t>
            </a:r>
          </a:p>
        </p:txBody>
      </p:sp>
      <p:sp>
        <p:nvSpPr>
          <p:cNvPr id="33" name="TextBox 32">
            <a:extLst>
              <a:ext uri="{FF2B5EF4-FFF2-40B4-BE49-F238E27FC236}">
                <a16:creationId xmlns:a16="http://schemas.microsoft.com/office/drawing/2014/main" id="{AA5764CC-A3C2-0759-C4AA-39B995F84E26}"/>
              </a:ext>
            </a:extLst>
          </p:cNvPr>
          <p:cNvSpPr txBox="1"/>
          <p:nvPr/>
        </p:nvSpPr>
        <p:spPr>
          <a:xfrm>
            <a:off x="1473625" y="41192209"/>
            <a:ext cx="3953607"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All neurons receive a white noise input current of the same strength.</a:t>
            </a:r>
            <a:endParaRPr lang="en-US" sz="1600" b="1" dirty="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E07150EB-9A4C-B964-3309-FBB1574A7889}"/>
              </a:ext>
            </a:extLst>
          </p:cNvPr>
          <p:cNvSpPr/>
          <p:nvPr/>
        </p:nvSpPr>
        <p:spPr>
          <a:xfrm>
            <a:off x="10514979" y="18568831"/>
            <a:ext cx="9143660" cy="504427"/>
          </a:xfrm>
          <a:prstGeom prst="rect">
            <a:avLst/>
          </a:prstGeom>
          <a:solidFill>
            <a:schemeClr val="accent5"/>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a:latin typeface="Arial" panose="020B0604020202020204" pitchFamily="34" charset="0"/>
                <a:cs typeface="Arial" panose="020B0604020202020204" pitchFamily="34" charset="0"/>
              </a:rPr>
              <a:t>Imprinting Two Memories</a:t>
            </a:r>
          </a:p>
        </p:txBody>
      </p:sp>
      <p:pic>
        <p:nvPicPr>
          <p:cNvPr id="3" name="Picture 2" descr="A diagram of a diagram of a cell&#10;&#10;Description automatically generated">
            <a:extLst>
              <a:ext uri="{FF2B5EF4-FFF2-40B4-BE49-F238E27FC236}">
                <a16:creationId xmlns:a16="http://schemas.microsoft.com/office/drawing/2014/main" id="{F20C8EC5-4993-7792-4EAC-1128C66AAC3D}"/>
              </a:ext>
            </a:extLst>
          </p:cNvPr>
          <p:cNvPicPr>
            <a:picLocks noChangeAspect="1"/>
          </p:cNvPicPr>
          <p:nvPr/>
        </p:nvPicPr>
        <p:blipFill rotWithShape="1">
          <a:blip r:embed="rId17">
            <a:extLst>
              <a:ext uri="{28A0092B-C50C-407E-A947-70E740481C1C}">
                <a14:useLocalDpi xmlns:a14="http://schemas.microsoft.com/office/drawing/2010/main" val="0"/>
              </a:ext>
            </a:extLst>
          </a:blip>
          <a:srcRect l="28647" t="37100" r="28467" b="38287"/>
          <a:stretch/>
        </p:blipFill>
        <p:spPr>
          <a:xfrm>
            <a:off x="1125083" y="36192857"/>
            <a:ext cx="6051313" cy="4909982"/>
          </a:xfrm>
          <a:prstGeom prst="rect">
            <a:avLst/>
          </a:prstGeom>
        </p:spPr>
      </p:pic>
      <p:pic>
        <p:nvPicPr>
          <p:cNvPr id="7" name="Picture 6" descr="A graph of a bar chart&#10;&#10;Description automatically generated with medium confidence">
            <a:extLst>
              <a:ext uri="{FF2B5EF4-FFF2-40B4-BE49-F238E27FC236}">
                <a16:creationId xmlns:a16="http://schemas.microsoft.com/office/drawing/2014/main" id="{821EB6AC-E879-9368-145A-D0832BE692BD}"/>
              </a:ext>
            </a:extLst>
          </p:cNvPr>
          <p:cNvPicPr>
            <a:picLocks noChangeAspect="1"/>
          </p:cNvPicPr>
          <p:nvPr/>
        </p:nvPicPr>
        <p:blipFill rotWithShape="1">
          <a:blip r:embed="rId18">
            <a:extLst>
              <a:ext uri="{28A0092B-C50C-407E-A947-70E740481C1C}">
                <a14:useLocalDpi xmlns:a14="http://schemas.microsoft.com/office/drawing/2010/main" val="0"/>
              </a:ext>
            </a:extLst>
          </a:blip>
          <a:srcRect l="15884" t="40461" r="52635" b="43412"/>
          <a:stretch/>
        </p:blipFill>
        <p:spPr>
          <a:xfrm>
            <a:off x="5939655" y="39384247"/>
            <a:ext cx="3908601" cy="2830792"/>
          </a:xfrm>
          <a:prstGeom prst="rect">
            <a:avLst/>
          </a:prstGeom>
        </p:spPr>
      </p:pic>
      <p:sp>
        <p:nvSpPr>
          <p:cNvPr id="8" name="TextBox 7">
            <a:extLst>
              <a:ext uri="{FF2B5EF4-FFF2-40B4-BE49-F238E27FC236}">
                <a16:creationId xmlns:a16="http://schemas.microsoft.com/office/drawing/2014/main" id="{8F8B2F00-0003-E848-5310-4673C9CC9244}"/>
              </a:ext>
            </a:extLst>
          </p:cNvPr>
          <p:cNvSpPr txBox="1"/>
          <p:nvPr/>
        </p:nvSpPr>
        <p:spPr>
          <a:xfrm>
            <a:off x="6602853" y="36806512"/>
            <a:ext cx="3054972" cy="1077218"/>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A selected subpopulation (50 cells) is stimulated via 2 </a:t>
            </a:r>
            <a:r>
              <a:rPr lang="en-US" sz="1600" dirty="0" err="1">
                <a:latin typeface="Arial" panose="020B0604020202020204" pitchFamily="34" charset="0"/>
                <a:cs typeface="Arial" panose="020B0604020202020204" pitchFamily="34" charset="0"/>
              </a:rPr>
              <a:t>ms</a:t>
            </a:r>
            <a:r>
              <a:rPr lang="en-US" sz="1600" dirty="0">
                <a:latin typeface="Arial" panose="020B0604020202020204" pitchFamily="34" charset="0"/>
                <a:cs typeface="Arial" panose="020B0604020202020204" pitchFamily="34" charset="0"/>
              </a:rPr>
              <a:t> step-wise input currents every second. </a:t>
            </a:r>
            <a:endParaRPr lang="en-US" sz="1600" b="1" dirty="0">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8AAAF39B-B502-EFA9-4E32-5E0841C8B7AF}"/>
              </a:ext>
            </a:extLst>
          </p:cNvPr>
          <p:cNvPicPr>
            <a:picLocks noChangeAspect="1"/>
          </p:cNvPicPr>
          <p:nvPr/>
        </p:nvPicPr>
        <p:blipFill>
          <a:blip r:embed="rId19"/>
          <a:stretch>
            <a:fillRect/>
          </a:stretch>
        </p:blipFill>
        <p:spPr>
          <a:xfrm>
            <a:off x="10782258" y="5127015"/>
            <a:ext cx="4114800" cy="3972910"/>
          </a:xfrm>
          <a:prstGeom prst="rect">
            <a:avLst/>
          </a:prstGeom>
        </p:spPr>
      </p:pic>
      <p:pic>
        <p:nvPicPr>
          <p:cNvPr id="39" name="Picture 38">
            <a:extLst>
              <a:ext uri="{FF2B5EF4-FFF2-40B4-BE49-F238E27FC236}">
                <a16:creationId xmlns:a16="http://schemas.microsoft.com/office/drawing/2014/main" id="{94BD4E15-742E-4863-DCB8-263EC1A6DF13}"/>
              </a:ext>
            </a:extLst>
          </p:cNvPr>
          <p:cNvPicPr>
            <a:picLocks noChangeAspect="1"/>
          </p:cNvPicPr>
          <p:nvPr/>
        </p:nvPicPr>
        <p:blipFill>
          <a:blip r:embed="rId20"/>
          <a:stretch>
            <a:fillRect/>
          </a:stretch>
        </p:blipFill>
        <p:spPr>
          <a:xfrm>
            <a:off x="15086809" y="5129233"/>
            <a:ext cx="4114800" cy="3972910"/>
          </a:xfrm>
          <a:prstGeom prst="rect">
            <a:avLst/>
          </a:prstGeom>
        </p:spPr>
      </p:pic>
      <p:pic>
        <p:nvPicPr>
          <p:cNvPr id="41" name="Picture 40">
            <a:extLst>
              <a:ext uri="{FF2B5EF4-FFF2-40B4-BE49-F238E27FC236}">
                <a16:creationId xmlns:a16="http://schemas.microsoft.com/office/drawing/2014/main" id="{4F140C87-F58D-9DE1-87BE-3570660CB41D}"/>
              </a:ext>
            </a:extLst>
          </p:cNvPr>
          <p:cNvPicPr>
            <a:picLocks noChangeAspect="1"/>
          </p:cNvPicPr>
          <p:nvPr/>
        </p:nvPicPr>
        <p:blipFill>
          <a:blip r:embed="rId21"/>
          <a:stretch>
            <a:fillRect/>
          </a:stretch>
        </p:blipFill>
        <p:spPr>
          <a:xfrm>
            <a:off x="10782258" y="9198661"/>
            <a:ext cx="4114800" cy="3972910"/>
          </a:xfrm>
          <a:prstGeom prst="rect">
            <a:avLst/>
          </a:prstGeom>
        </p:spPr>
      </p:pic>
      <p:pic>
        <p:nvPicPr>
          <p:cNvPr id="43" name="Picture 42">
            <a:extLst>
              <a:ext uri="{FF2B5EF4-FFF2-40B4-BE49-F238E27FC236}">
                <a16:creationId xmlns:a16="http://schemas.microsoft.com/office/drawing/2014/main" id="{7DDA02EB-FBA3-4D66-403A-F59E11611146}"/>
              </a:ext>
            </a:extLst>
          </p:cNvPr>
          <p:cNvPicPr>
            <a:picLocks noChangeAspect="1"/>
          </p:cNvPicPr>
          <p:nvPr/>
        </p:nvPicPr>
        <p:blipFill>
          <a:blip r:embed="rId22"/>
          <a:stretch>
            <a:fillRect/>
          </a:stretch>
        </p:blipFill>
        <p:spPr>
          <a:xfrm>
            <a:off x="15086809" y="9198661"/>
            <a:ext cx="4114800" cy="3972910"/>
          </a:xfrm>
          <a:prstGeom prst="rect">
            <a:avLst/>
          </a:prstGeom>
        </p:spPr>
      </p:pic>
      <p:sp>
        <p:nvSpPr>
          <p:cNvPr id="44" name="TextBox 43">
            <a:extLst>
              <a:ext uri="{FF2B5EF4-FFF2-40B4-BE49-F238E27FC236}">
                <a16:creationId xmlns:a16="http://schemas.microsoft.com/office/drawing/2014/main" id="{420F3734-B07C-1F3B-771F-30F69F91D46E}"/>
              </a:ext>
            </a:extLst>
          </p:cNvPr>
          <p:cNvSpPr txBox="1"/>
          <p:nvPr/>
        </p:nvSpPr>
        <p:spPr>
          <a:xfrm>
            <a:off x="11329494" y="13281734"/>
            <a:ext cx="7603461"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Raster plots of the network response to the stimulation along four different trials throughout the stimulation protocol. By trial 400 the sequence has stabilized, and its order barely changes until the end of the stimulation protocol (trial 1000)</a:t>
            </a:r>
            <a:endParaRPr lang="en-US" sz="1600" b="1" dirty="0">
              <a:latin typeface="Arial" panose="020B0604020202020204" pitchFamily="34" charset="0"/>
              <a:cs typeface="Arial" panose="020B0604020202020204" pitchFamily="34" charset="0"/>
            </a:endParaRPr>
          </a:p>
        </p:txBody>
      </p:sp>
      <p:pic>
        <p:nvPicPr>
          <p:cNvPr id="46" name="Picture 45" descr="A diagram of a cell&#10;&#10;Description automatically generated">
            <a:extLst>
              <a:ext uri="{FF2B5EF4-FFF2-40B4-BE49-F238E27FC236}">
                <a16:creationId xmlns:a16="http://schemas.microsoft.com/office/drawing/2014/main" id="{63B91035-9DE4-B9EF-75AF-7B277176995A}"/>
              </a:ext>
            </a:extLst>
          </p:cNvPr>
          <p:cNvPicPr>
            <a:picLocks noChangeAspect="1"/>
          </p:cNvPicPr>
          <p:nvPr/>
        </p:nvPicPr>
        <p:blipFill rotWithShape="1">
          <a:blip r:embed="rId23">
            <a:extLst>
              <a:ext uri="{28A0092B-C50C-407E-A947-70E740481C1C}">
                <a14:useLocalDpi xmlns:a14="http://schemas.microsoft.com/office/drawing/2010/main" val="0"/>
              </a:ext>
            </a:extLst>
          </a:blip>
          <a:srcRect l="25306" t="37297" r="29379" b="38563"/>
          <a:stretch/>
        </p:blipFill>
        <p:spPr>
          <a:xfrm>
            <a:off x="10698482" y="19141376"/>
            <a:ext cx="4896282" cy="3687525"/>
          </a:xfrm>
          <a:prstGeom prst="rect">
            <a:avLst/>
          </a:prstGeom>
        </p:spPr>
      </p:pic>
      <p:sp>
        <p:nvSpPr>
          <p:cNvPr id="50" name="TextBox 49">
            <a:extLst>
              <a:ext uri="{FF2B5EF4-FFF2-40B4-BE49-F238E27FC236}">
                <a16:creationId xmlns:a16="http://schemas.microsoft.com/office/drawing/2014/main" id="{86462AD9-B6BF-81BA-0A22-45A16F6CA5B7}"/>
              </a:ext>
            </a:extLst>
          </p:cNvPr>
          <p:cNvSpPr txBox="1"/>
          <p:nvPr/>
        </p:nvSpPr>
        <p:spPr>
          <a:xfrm>
            <a:off x="16001369" y="21158992"/>
            <a:ext cx="2727881"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Protocol for two memories</a:t>
            </a:r>
            <a:endParaRPr lang="en-US" sz="1600" b="1" dirty="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AF0A2CA6-3686-02B5-33B6-AB44D827161E}"/>
              </a:ext>
            </a:extLst>
          </p:cNvPr>
          <p:cNvSpPr txBox="1"/>
          <p:nvPr/>
        </p:nvSpPr>
        <p:spPr>
          <a:xfrm>
            <a:off x="10882466" y="23184097"/>
            <a:ext cx="393806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Interleaving stimulation protocol, where two different subpopulations (no overlap) are stimulated every 0.5 s</a:t>
            </a:r>
          </a:p>
        </p:txBody>
      </p:sp>
      <p:sp>
        <p:nvSpPr>
          <p:cNvPr id="56" name="TextBox 55">
            <a:extLst>
              <a:ext uri="{FF2B5EF4-FFF2-40B4-BE49-F238E27FC236}">
                <a16:creationId xmlns:a16="http://schemas.microsoft.com/office/drawing/2014/main" id="{971D90C3-5EE9-ACAC-4719-9D89CF69F92A}"/>
              </a:ext>
            </a:extLst>
          </p:cNvPr>
          <p:cNvSpPr txBox="1"/>
          <p:nvPr/>
        </p:nvSpPr>
        <p:spPr>
          <a:xfrm>
            <a:off x="10675453" y="17629468"/>
            <a:ext cx="8781637" cy="830997"/>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Left: </a:t>
            </a:r>
            <a:r>
              <a:rPr lang="en-CA" sz="1600" dirty="0">
                <a:solidFill>
                  <a:srgbClr val="0E101A"/>
                </a:solidFill>
                <a:highlight>
                  <a:srgbClr val="FFFFFF"/>
                </a:highlight>
                <a:latin typeface="Arial" panose="020B0604020202020204" pitchFamily="34" charset="0"/>
                <a:cs typeface="Arial" panose="020B0604020202020204" pitchFamily="34" charset="0"/>
              </a:rPr>
              <a:t>Order vector of cells across different trials . Indices in each trial are sorted  based on time to first spike. Color coding is based on last trial which this order stabilizes. </a:t>
            </a:r>
            <a:r>
              <a:rPr lang="en-CA" sz="1600" b="1" dirty="0">
                <a:solidFill>
                  <a:srgbClr val="0E101A"/>
                </a:solidFill>
                <a:highlight>
                  <a:srgbClr val="FFFFFF"/>
                </a:highlight>
                <a:latin typeface="Arial" panose="020B0604020202020204" pitchFamily="34" charset="0"/>
                <a:cs typeface="Arial" panose="020B0604020202020204" pitchFamily="34" charset="0"/>
              </a:rPr>
              <a:t>Right: </a:t>
            </a:r>
            <a:r>
              <a:rPr lang="en-CA" sz="1600" dirty="0">
                <a:solidFill>
                  <a:srgbClr val="0E101A"/>
                </a:solidFill>
                <a:highlight>
                  <a:srgbClr val="FFFFFF"/>
                </a:highlight>
                <a:latin typeface="Arial" panose="020B0604020202020204" pitchFamily="34" charset="0"/>
                <a:cs typeface="Arial" panose="020B0604020202020204" pitchFamily="34" charset="0"/>
              </a:rPr>
              <a:t>Correlation matrix of order vectors. Evidence for stability of order (our memory) after trial 400.</a:t>
            </a:r>
            <a:endParaRPr lang="en-US" sz="1600" b="1" dirty="0">
              <a:latin typeface="Arial" panose="020B0604020202020204" pitchFamily="34" charset="0"/>
              <a:cs typeface="Arial" panose="020B0604020202020204" pitchFamily="34" charset="0"/>
            </a:endParaRPr>
          </a:p>
        </p:txBody>
      </p:sp>
      <p:pic>
        <p:nvPicPr>
          <p:cNvPr id="58" name="Picture 57">
            <a:extLst>
              <a:ext uri="{FF2B5EF4-FFF2-40B4-BE49-F238E27FC236}">
                <a16:creationId xmlns:a16="http://schemas.microsoft.com/office/drawing/2014/main" id="{91F987AA-2D81-BAB9-80F2-4945EF18A3D3}"/>
              </a:ext>
            </a:extLst>
          </p:cNvPr>
          <p:cNvPicPr>
            <a:picLocks noChangeAspect="1"/>
          </p:cNvPicPr>
          <p:nvPr/>
        </p:nvPicPr>
        <p:blipFill>
          <a:blip r:embed="rId24"/>
          <a:stretch>
            <a:fillRect/>
          </a:stretch>
        </p:blipFill>
        <p:spPr>
          <a:xfrm>
            <a:off x="15212915" y="14171609"/>
            <a:ext cx="4114800" cy="3453544"/>
          </a:xfrm>
          <a:prstGeom prst="rect">
            <a:avLst/>
          </a:prstGeom>
        </p:spPr>
      </p:pic>
      <p:pic>
        <p:nvPicPr>
          <p:cNvPr id="66" name="Picture 65" descr="A rainbow colored line chart&#10;&#10;Description automatically generated with medium confidence">
            <a:extLst>
              <a:ext uri="{FF2B5EF4-FFF2-40B4-BE49-F238E27FC236}">
                <a16:creationId xmlns:a16="http://schemas.microsoft.com/office/drawing/2014/main" id="{59DF7FA5-A40D-00FC-B354-5E001512733F}"/>
              </a:ext>
            </a:extLst>
          </p:cNvPr>
          <p:cNvPicPr>
            <a:picLocks noChangeAspect="1"/>
          </p:cNvPicPr>
          <p:nvPr/>
        </p:nvPicPr>
        <p:blipFill rotWithShape="1">
          <a:blip r:embed="rId25">
            <a:extLst>
              <a:ext uri="{28A0092B-C50C-407E-A947-70E740481C1C}">
                <a14:useLocalDpi xmlns:a14="http://schemas.microsoft.com/office/drawing/2010/main" val="0"/>
              </a:ext>
            </a:extLst>
          </a:blip>
          <a:srcRect r="4411"/>
          <a:stretch/>
        </p:blipFill>
        <p:spPr>
          <a:xfrm>
            <a:off x="10931277" y="14287712"/>
            <a:ext cx="4265014" cy="3346378"/>
          </a:xfrm>
          <a:prstGeom prst="rect">
            <a:avLst/>
          </a:prstGeom>
        </p:spPr>
      </p:pic>
      <p:cxnSp>
        <p:nvCxnSpPr>
          <p:cNvPr id="67" name="Straight Arrow Connector 66">
            <a:extLst>
              <a:ext uri="{FF2B5EF4-FFF2-40B4-BE49-F238E27FC236}">
                <a16:creationId xmlns:a16="http://schemas.microsoft.com/office/drawing/2014/main" id="{1949E729-CF78-2F2E-8D30-5DD7B329F1A6}"/>
              </a:ext>
            </a:extLst>
          </p:cNvPr>
          <p:cNvCxnSpPr>
            <a:cxnSpLocks/>
            <a:stCxn id="149" idx="0"/>
            <a:endCxn id="136" idx="2"/>
          </p:cNvCxnSpPr>
          <p:nvPr/>
        </p:nvCxnSpPr>
        <p:spPr>
          <a:xfrm flipH="1" flipV="1">
            <a:off x="4630631" y="19457934"/>
            <a:ext cx="930516" cy="4233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2" name="Picture 71">
            <a:extLst>
              <a:ext uri="{FF2B5EF4-FFF2-40B4-BE49-F238E27FC236}">
                <a16:creationId xmlns:a16="http://schemas.microsoft.com/office/drawing/2014/main" id="{5AF4588B-B66A-C4B1-C4F7-92E2410B3890}"/>
              </a:ext>
            </a:extLst>
          </p:cNvPr>
          <p:cNvPicPr>
            <a:picLocks noChangeAspect="1"/>
          </p:cNvPicPr>
          <p:nvPr/>
        </p:nvPicPr>
        <p:blipFill>
          <a:blip r:embed="rId26"/>
          <a:stretch>
            <a:fillRect/>
          </a:stretch>
        </p:blipFill>
        <p:spPr>
          <a:xfrm>
            <a:off x="15544501" y="30268156"/>
            <a:ext cx="3783214" cy="3884098"/>
          </a:xfrm>
          <a:prstGeom prst="rect">
            <a:avLst/>
          </a:prstGeom>
        </p:spPr>
      </p:pic>
      <p:pic>
        <p:nvPicPr>
          <p:cNvPr id="73" name="Picture 72">
            <a:extLst>
              <a:ext uri="{FF2B5EF4-FFF2-40B4-BE49-F238E27FC236}">
                <a16:creationId xmlns:a16="http://schemas.microsoft.com/office/drawing/2014/main" id="{0F17B35D-5AC5-0314-4509-A46F1A5D776B}"/>
              </a:ext>
            </a:extLst>
          </p:cNvPr>
          <p:cNvPicPr>
            <a:picLocks noChangeAspect="1"/>
          </p:cNvPicPr>
          <p:nvPr/>
        </p:nvPicPr>
        <p:blipFill>
          <a:blip r:embed="rId27"/>
          <a:stretch>
            <a:fillRect/>
          </a:stretch>
        </p:blipFill>
        <p:spPr>
          <a:xfrm>
            <a:off x="11303595" y="30233473"/>
            <a:ext cx="3783214" cy="3884100"/>
          </a:xfrm>
          <a:prstGeom prst="rect">
            <a:avLst/>
          </a:prstGeom>
        </p:spPr>
      </p:pic>
      <p:sp>
        <p:nvSpPr>
          <p:cNvPr id="74" name="TextBox 73">
            <a:extLst>
              <a:ext uri="{FF2B5EF4-FFF2-40B4-BE49-F238E27FC236}">
                <a16:creationId xmlns:a16="http://schemas.microsoft.com/office/drawing/2014/main" id="{FC171076-104A-724F-366D-E3DDE15ACB29}"/>
              </a:ext>
            </a:extLst>
          </p:cNvPr>
          <p:cNvSpPr txBox="1"/>
          <p:nvPr/>
        </p:nvSpPr>
        <p:spPr>
          <a:xfrm>
            <a:off x="11404650" y="34321779"/>
            <a:ext cx="7505030" cy="830997"/>
          </a:xfrm>
          <a:prstGeom prst="rect">
            <a:avLst/>
          </a:prstGeom>
          <a:noFill/>
        </p:spPr>
        <p:txBody>
          <a:bodyPr wrap="square" rtlCol="0">
            <a:spAutoFit/>
          </a:bodyPr>
          <a:lstStyle/>
          <a:p>
            <a:pPr algn="ctr"/>
            <a:r>
              <a:rPr lang="en-CA" sz="1600" dirty="0">
                <a:latin typeface="Arial" panose="020B0604020202020204" pitchFamily="34" charset="0"/>
                <a:cs typeface="Arial" panose="020B0604020202020204" pitchFamily="34" charset="0"/>
              </a:rPr>
              <a:t>Spearman rank correlation of each memory (first to spike order) with itself across trials. Both memories stabilize halfway through the learning phase. </a:t>
            </a:r>
            <a:r>
              <a:rPr lang="en-CA" sz="1600" b="1" dirty="0">
                <a:latin typeface="Arial" panose="020B0604020202020204" pitchFamily="34" charset="0"/>
                <a:cs typeface="Arial" panose="020B0604020202020204" pitchFamily="34" charset="0"/>
              </a:rPr>
              <a:t>Left: </a:t>
            </a:r>
            <a:r>
              <a:rPr lang="en-CA" sz="1600" dirty="0">
                <a:latin typeface="Arial" panose="020B0604020202020204" pitchFamily="34" charset="0"/>
                <a:cs typeface="Arial" panose="020B0604020202020204" pitchFamily="34" charset="0"/>
              </a:rPr>
              <a:t>Memory 1 order correlation matrix. </a:t>
            </a:r>
            <a:r>
              <a:rPr lang="en-CA" sz="1600" b="1" dirty="0">
                <a:latin typeface="Arial" panose="020B0604020202020204" pitchFamily="34" charset="0"/>
                <a:cs typeface="Arial" panose="020B0604020202020204" pitchFamily="34" charset="0"/>
              </a:rPr>
              <a:t>Right: </a:t>
            </a:r>
            <a:r>
              <a:rPr lang="en-CA" sz="1600" dirty="0">
                <a:latin typeface="Arial" panose="020B0604020202020204" pitchFamily="34" charset="0"/>
                <a:cs typeface="Arial" panose="020B0604020202020204" pitchFamily="34" charset="0"/>
              </a:rPr>
              <a:t>Memory 2 order correlation matrix. </a:t>
            </a:r>
            <a:endParaRPr lang="en-US" sz="1600" b="1" dirty="0">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BA3A7848-5C81-C61C-14BC-DCB3F21C6254}"/>
              </a:ext>
            </a:extLst>
          </p:cNvPr>
          <p:cNvSpPr txBox="1"/>
          <p:nvPr/>
        </p:nvSpPr>
        <p:spPr>
          <a:xfrm>
            <a:off x="11551494" y="29326996"/>
            <a:ext cx="7322840"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Neuronal indices sorted by first to spike order in each trial. Each curve is one neuron first to spike order in time. Neurons are color coded by order in the last trial in the learning phase.</a:t>
            </a:r>
            <a:endParaRPr lang="en-US" sz="1600" b="1" dirty="0">
              <a:latin typeface="Arial" panose="020B0604020202020204" pitchFamily="34" charset="0"/>
              <a:cs typeface="Arial" panose="020B0604020202020204" pitchFamily="34" charset="0"/>
            </a:endParaRPr>
          </a:p>
        </p:txBody>
      </p:sp>
      <p:pic>
        <p:nvPicPr>
          <p:cNvPr id="103" name="Picture 102">
            <a:extLst>
              <a:ext uri="{FF2B5EF4-FFF2-40B4-BE49-F238E27FC236}">
                <a16:creationId xmlns:a16="http://schemas.microsoft.com/office/drawing/2014/main" id="{492BE40A-8997-08B7-A944-B33D8A9E2100}"/>
              </a:ext>
            </a:extLst>
          </p:cNvPr>
          <p:cNvPicPr>
            <a:picLocks noChangeAspect="1"/>
          </p:cNvPicPr>
          <p:nvPr/>
        </p:nvPicPr>
        <p:blipFill>
          <a:blip r:embed="rId28"/>
          <a:stretch>
            <a:fillRect/>
          </a:stretch>
        </p:blipFill>
        <p:spPr>
          <a:xfrm>
            <a:off x="10931277" y="24571393"/>
            <a:ext cx="4114800" cy="4717863"/>
          </a:xfrm>
          <a:prstGeom prst="rect">
            <a:avLst/>
          </a:prstGeom>
        </p:spPr>
      </p:pic>
      <p:pic>
        <p:nvPicPr>
          <p:cNvPr id="105" name="Picture 104">
            <a:extLst>
              <a:ext uri="{FF2B5EF4-FFF2-40B4-BE49-F238E27FC236}">
                <a16:creationId xmlns:a16="http://schemas.microsoft.com/office/drawing/2014/main" id="{0ACC0747-A9A2-8A19-8E49-C151CFD6A425}"/>
              </a:ext>
            </a:extLst>
          </p:cNvPr>
          <p:cNvPicPr>
            <a:picLocks noChangeAspect="1"/>
          </p:cNvPicPr>
          <p:nvPr/>
        </p:nvPicPr>
        <p:blipFill>
          <a:blip r:embed="rId29"/>
          <a:stretch>
            <a:fillRect/>
          </a:stretch>
        </p:blipFill>
        <p:spPr>
          <a:xfrm>
            <a:off x="15086809" y="24549771"/>
            <a:ext cx="4114800" cy="4717863"/>
          </a:xfrm>
          <a:prstGeom prst="rect">
            <a:avLst/>
          </a:prstGeom>
        </p:spPr>
      </p:pic>
      <p:pic>
        <p:nvPicPr>
          <p:cNvPr id="107" name="Picture 106">
            <a:extLst>
              <a:ext uri="{FF2B5EF4-FFF2-40B4-BE49-F238E27FC236}">
                <a16:creationId xmlns:a16="http://schemas.microsoft.com/office/drawing/2014/main" id="{FFC27501-8277-D542-D48D-F20FB6DD671F}"/>
              </a:ext>
            </a:extLst>
          </p:cNvPr>
          <p:cNvPicPr>
            <a:picLocks noChangeAspect="1"/>
          </p:cNvPicPr>
          <p:nvPr/>
        </p:nvPicPr>
        <p:blipFill>
          <a:blip r:embed="rId30"/>
          <a:stretch>
            <a:fillRect/>
          </a:stretch>
        </p:blipFill>
        <p:spPr>
          <a:xfrm>
            <a:off x="15317238" y="36007855"/>
            <a:ext cx="4114800" cy="4224528"/>
          </a:xfrm>
          <a:prstGeom prst="rect">
            <a:avLst/>
          </a:prstGeom>
        </p:spPr>
      </p:pic>
      <p:sp>
        <p:nvSpPr>
          <p:cNvPr id="109" name="Rectangle 108">
            <a:extLst>
              <a:ext uri="{FF2B5EF4-FFF2-40B4-BE49-F238E27FC236}">
                <a16:creationId xmlns:a16="http://schemas.microsoft.com/office/drawing/2014/main" id="{B74E800D-78E4-3AA0-7520-2CDD56604186}"/>
              </a:ext>
            </a:extLst>
          </p:cNvPr>
          <p:cNvSpPr/>
          <p:nvPr/>
        </p:nvSpPr>
        <p:spPr>
          <a:xfrm>
            <a:off x="20134874" y="4319842"/>
            <a:ext cx="9143660" cy="11637143"/>
          </a:xfrm>
          <a:prstGeom prst="rect">
            <a:avLst/>
          </a:prstGeom>
          <a:noFill/>
          <a:ln w="76200">
            <a:solidFill>
              <a:schemeClr val="accent5"/>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CA" sz="1262"/>
          </a:p>
        </p:txBody>
      </p:sp>
      <p:sp>
        <p:nvSpPr>
          <p:cNvPr id="110" name="TextBox 109">
            <a:extLst>
              <a:ext uri="{FF2B5EF4-FFF2-40B4-BE49-F238E27FC236}">
                <a16:creationId xmlns:a16="http://schemas.microsoft.com/office/drawing/2014/main" id="{ED693775-BE83-9342-B544-7FC5AE110695}"/>
              </a:ext>
            </a:extLst>
          </p:cNvPr>
          <p:cNvSpPr txBox="1"/>
          <p:nvPr/>
        </p:nvSpPr>
        <p:spPr>
          <a:xfrm>
            <a:off x="20254095" y="16976492"/>
            <a:ext cx="8762679" cy="3970318"/>
          </a:xfrm>
          <a:prstGeom prst="rect">
            <a:avLst/>
          </a:prstGeom>
          <a:noFill/>
        </p:spPr>
        <p:txBody>
          <a:bodyPr wrap="square" rtlCol="0">
            <a:spAutoFit/>
          </a:bodyPr>
          <a:lstStyle/>
          <a:p>
            <a:pPr algn="just"/>
            <a:r>
              <a:rPr lang="en-CA" sz="2800" dirty="0">
                <a:latin typeface="Arial" panose="020B0604020202020204" pitchFamily="34" charset="0"/>
                <a:cs typeface="Arial" panose="020B0604020202020204" pitchFamily="34" charset="0"/>
              </a:rPr>
              <a:t>	The results of this research demonstrate that it is feasible to construct a biologically inspired spiking neural network capable of storing memories in a manner similar to classical Hopfield networks.</a:t>
            </a:r>
          </a:p>
          <a:p>
            <a:pPr algn="just"/>
            <a:endParaRPr lang="en-CA" sz="2800" dirty="0">
              <a:latin typeface="Arial" panose="020B0604020202020204" pitchFamily="34" charset="0"/>
              <a:cs typeface="Arial" panose="020B0604020202020204" pitchFamily="34" charset="0"/>
            </a:endParaRPr>
          </a:p>
          <a:p>
            <a:pPr algn="just">
              <a:spcAft>
                <a:spcPts val="1200"/>
              </a:spcAft>
            </a:pPr>
            <a:r>
              <a:rPr lang="en-CA" sz="2800" dirty="0">
                <a:latin typeface="Arial" panose="020B0604020202020204" pitchFamily="34" charset="0"/>
                <a:cs typeface="Arial" panose="020B0604020202020204" pitchFamily="34" charset="0"/>
              </a:rPr>
              <a:t>	Our findings indicate that such networks can stabilize and maintain memory patterns despite the presence of noise, which is a significant challenge in neural network models.</a:t>
            </a:r>
          </a:p>
        </p:txBody>
      </p:sp>
      <p:sp>
        <p:nvSpPr>
          <p:cNvPr id="111" name="Rectangle 110">
            <a:extLst>
              <a:ext uri="{FF2B5EF4-FFF2-40B4-BE49-F238E27FC236}">
                <a16:creationId xmlns:a16="http://schemas.microsoft.com/office/drawing/2014/main" id="{D0074B10-3BC3-5F73-2440-E842BE0080CF}"/>
              </a:ext>
            </a:extLst>
          </p:cNvPr>
          <p:cNvSpPr/>
          <p:nvPr/>
        </p:nvSpPr>
        <p:spPr>
          <a:xfrm>
            <a:off x="20134874" y="4338778"/>
            <a:ext cx="9143660" cy="504427"/>
          </a:xfrm>
          <a:prstGeom prst="rect">
            <a:avLst/>
          </a:prstGeom>
          <a:solidFill>
            <a:schemeClr val="accent5"/>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CA" sz="4000" b="1" dirty="0">
                <a:latin typeface="Arial" panose="020B0604020202020204" pitchFamily="34" charset="0"/>
                <a:cs typeface="Arial" panose="020B0604020202020204" pitchFamily="34" charset="0"/>
              </a:rPr>
              <a:t>Pre and Post Learning</a:t>
            </a:r>
          </a:p>
        </p:txBody>
      </p:sp>
      <p:pic>
        <p:nvPicPr>
          <p:cNvPr id="113" name="Picture 112">
            <a:extLst>
              <a:ext uri="{FF2B5EF4-FFF2-40B4-BE49-F238E27FC236}">
                <a16:creationId xmlns:a16="http://schemas.microsoft.com/office/drawing/2014/main" id="{256DD30E-F0C9-470F-889D-8197E6990220}"/>
              </a:ext>
            </a:extLst>
          </p:cNvPr>
          <p:cNvPicPr>
            <a:picLocks noChangeAspect="1"/>
          </p:cNvPicPr>
          <p:nvPr/>
        </p:nvPicPr>
        <p:blipFill>
          <a:blip r:embed="rId31"/>
          <a:stretch>
            <a:fillRect/>
          </a:stretch>
        </p:blipFill>
        <p:spPr>
          <a:xfrm>
            <a:off x="10882292" y="35695903"/>
            <a:ext cx="4114800" cy="4717863"/>
          </a:xfrm>
          <a:prstGeom prst="rect">
            <a:avLst/>
          </a:prstGeom>
        </p:spPr>
      </p:pic>
      <p:sp>
        <p:nvSpPr>
          <p:cNvPr id="114" name="TextBox 113">
            <a:extLst>
              <a:ext uri="{FF2B5EF4-FFF2-40B4-BE49-F238E27FC236}">
                <a16:creationId xmlns:a16="http://schemas.microsoft.com/office/drawing/2014/main" id="{F4B92659-9A5F-F30D-79E9-3733B4AD8614}"/>
              </a:ext>
            </a:extLst>
          </p:cNvPr>
          <p:cNvSpPr txBox="1"/>
          <p:nvPr/>
        </p:nvSpPr>
        <p:spPr>
          <a:xfrm>
            <a:off x="11662545" y="40597530"/>
            <a:ext cx="7032671" cy="1323439"/>
          </a:xfrm>
          <a:prstGeom prst="rect">
            <a:avLst/>
          </a:prstGeom>
          <a:noFill/>
        </p:spPr>
        <p:txBody>
          <a:bodyPr wrap="square" rtlCol="0">
            <a:spAutoFit/>
          </a:bodyPr>
          <a:lstStyle/>
          <a:p>
            <a:pPr algn="ctr"/>
            <a:r>
              <a:rPr lang="en-CA" sz="1600" b="1" dirty="0">
                <a:latin typeface="Arial" panose="020B0604020202020204" pitchFamily="34" charset="0"/>
                <a:cs typeface="Arial" panose="020B0604020202020204" pitchFamily="34" charset="0"/>
              </a:rPr>
              <a:t>Left: </a:t>
            </a:r>
            <a:r>
              <a:rPr lang="en-CA" sz="1600" dirty="0">
                <a:latin typeface="Arial" panose="020B0604020202020204" pitchFamily="34" charset="0"/>
                <a:cs typeface="Arial" panose="020B0604020202020204" pitchFamily="34" charset="0"/>
              </a:rPr>
              <a:t>First to spike order vector of cells in memory 1 across trials, color coded based on the stable order vector of memory 2. We can see that the two orders are unrelated. </a:t>
            </a:r>
            <a:r>
              <a:rPr lang="en-CA" sz="1600" b="1" dirty="0">
                <a:latin typeface="Arial" panose="020B0604020202020204" pitchFamily="34" charset="0"/>
                <a:cs typeface="Arial" panose="020B0604020202020204" pitchFamily="34" charset="0"/>
              </a:rPr>
              <a:t>Right: </a:t>
            </a:r>
            <a:r>
              <a:rPr lang="en-CA" sz="1600" dirty="0">
                <a:latin typeface="Arial" panose="020B0604020202020204" pitchFamily="34" charset="0"/>
                <a:cs typeface="Arial" panose="020B0604020202020204" pitchFamily="34" charset="0"/>
              </a:rPr>
              <a:t>Spearman correlation between the order of memory 1 and 2 across the same trial index. The low correlation indicates that memories are easily discriminable.</a:t>
            </a:r>
            <a:endParaRPr lang="en-US" sz="1600" b="1" dirty="0">
              <a:latin typeface="Arial" panose="020B0604020202020204" pitchFamily="34" charset="0"/>
              <a:cs typeface="Arial" panose="020B0604020202020204" pitchFamily="34" charset="0"/>
            </a:endParaRPr>
          </a:p>
        </p:txBody>
      </p:sp>
      <p:pic>
        <p:nvPicPr>
          <p:cNvPr id="115" name="Picture 114">
            <a:extLst>
              <a:ext uri="{FF2B5EF4-FFF2-40B4-BE49-F238E27FC236}">
                <a16:creationId xmlns:a16="http://schemas.microsoft.com/office/drawing/2014/main" id="{F3ECF9B7-93CE-2811-8963-5F34A93ACF56}"/>
              </a:ext>
            </a:extLst>
          </p:cNvPr>
          <p:cNvPicPr>
            <a:picLocks noChangeAspect="1"/>
          </p:cNvPicPr>
          <p:nvPr/>
        </p:nvPicPr>
        <p:blipFill>
          <a:blip r:embed="rId32"/>
          <a:stretch>
            <a:fillRect/>
          </a:stretch>
        </p:blipFill>
        <p:spPr>
          <a:xfrm>
            <a:off x="20587340" y="5279178"/>
            <a:ext cx="3783214" cy="4108418"/>
          </a:xfrm>
          <a:prstGeom prst="rect">
            <a:avLst/>
          </a:prstGeom>
        </p:spPr>
      </p:pic>
      <p:pic>
        <p:nvPicPr>
          <p:cNvPr id="116" name="Picture 115">
            <a:extLst>
              <a:ext uri="{FF2B5EF4-FFF2-40B4-BE49-F238E27FC236}">
                <a16:creationId xmlns:a16="http://schemas.microsoft.com/office/drawing/2014/main" id="{20E75DFA-ED20-E0C8-1F4A-3E8269ECFE5A}"/>
              </a:ext>
            </a:extLst>
          </p:cNvPr>
          <p:cNvPicPr>
            <a:picLocks noChangeAspect="1"/>
          </p:cNvPicPr>
          <p:nvPr/>
        </p:nvPicPr>
        <p:blipFill>
          <a:blip r:embed="rId33"/>
          <a:stretch>
            <a:fillRect/>
          </a:stretch>
        </p:blipFill>
        <p:spPr>
          <a:xfrm>
            <a:off x="24439825" y="5279178"/>
            <a:ext cx="3783214" cy="4108418"/>
          </a:xfrm>
          <a:prstGeom prst="rect">
            <a:avLst/>
          </a:prstGeom>
        </p:spPr>
      </p:pic>
      <p:pic>
        <p:nvPicPr>
          <p:cNvPr id="124" name="Picture 123">
            <a:extLst>
              <a:ext uri="{FF2B5EF4-FFF2-40B4-BE49-F238E27FC236}">
                <a16:creationId xmlns:a16="http://schemas.microsoft.com/office/drawing/2014/main" id="{9C871F4E-CFB7-10A3-E438-BA783EB58A66}"/>
              </a:ext>
            </a:extLst>
          </p:cNvPr>
          <p:cNvPicPr>
            <a:picLocks noChangeAspect="1"/>
          </p:cNvPicPr>
          <p:nvPr/>
        </p:nvPicPr>
        <p:blipFill>
          <a:blip r:embed="rId34"/>
          <a:stretch>
            <a:fillRect/>
          </a:stretch>
        </p:blipFill>
        <p:spPr>
          <a:xfrm>
            <a:off x="24635437" y="10779860"/>
            <a:ext cx="4130982" cy="3994239"/>
          </a:xfrm>
          <a:prstGeom prst="rect">
            <a:avLst/>
          </a:prstGeom>
        </p:spPr>
      </p:pic>
      <p:pic>
        <p:nvPicPr>
          <p:cNvPr id="127" name="Picture 126">
            <a:extLst>
              <a:ext uri="{FF2B5EF4-FFF2-40B4-BE49-F238E27FC236}">
                <a16:creationId xmlns:a16="http://schemas.microsoft.com/office/drawing/2014/main" id="{24D46788-D1F2-CA65-2320-C29E46616E37}"/>
              </a:ext>
            </a:extLst>
          </p:cNvPr>
          <p:cNvPicPr>
            <a:picLocks noChangeAspect="1"/>
          </p:cNvPicPr>
          <p:nvPr/>
        </p:nvPicPr>
        <p:blipFill>
          <a:blip r:embed="rId35"/>
          <a:stretch>
            <a:fillRect/>
          </a:stretch>
        </p:blipFill>
        <p:spPr>
          <a:xfrm>
            <a:off x="20507752" y="10767335"/>
            <a:ext cx="4166554" cy="4028634"/>
          </a:xfrm>
          <a:prstGeom prst="rect">
            <a:avLst/>
          </a:prstGeom>
        </p:spPr>
      </p:pic>
      <p:sp>
        <p:nvSpPr>
          <p:cNvPr id="130" name="TextBox 129">
            <a:extLst>
              <a:ext uri="{FF2B5EF4-FFF2-40B4-BE49-F238E27FC236}">
                <a16:creationId xmlns:a16="http://schemas.microsoft.com/office/drawing/2014/main" id="{0D61ACFF-50C5-3D69-4743-125CCECF42CF}"/>
              </a:ext>
            </a:extLst>
          </p:cNvPr>
          <p:cNvSpPr txBox="1"/>
          <p:nvPr/>
        </p:nvSpPr>
        <p:spPr>
          <a:xfrm>
            <a:off x="21119100" y="14872983"/>
            <a:ext cx="7032671"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Raster plots of spontaneous network activity (driven by noise). </a:t>
            </a:r>
            <a:r>
              <a:rPr lang="en-US" sz="1600" b="1" dirty="0">
                <a:latin typeface="Arial" panose="020B0604020202020204" pitchFamily="34" charset="0"/>
                <a:cs typeface="Arial" panose="020B0604020202020204" pitchFamily="34" charset="0"/>
              </a:rPr>
              <a:t>Left: </a:t>
            </a:r>
            <a:r>
              <a:rPr lang="en-US" sz="1600" dirty="0">
                <a:latin typeface="Arial" panose="020B0604020202020204" pitchFamily="34" charset="0"/>
                <a:cs typeface="Arial" panose="020B0604020202020204" pitchFamily="34" charset="0"/>
              </a:rPr>
              <a:t>Noise driven activity of the network before learning. </a:t>
            </a:r>
            <a:r>
              <a:rPr lang="en-US" sz="1600" b="1" dirty="0">
                <a:latin typeface="Arial" panose="020B0604020202020204" pitchFamily="34" charset="0"/>
                <a:cs typeface="Arial" panose="020B0604020202020204" pitchFamily="34" charset="0"/>
              </a:rPr>
              <a:t>Right: </a:t>
            </a:r>
            <a:r>
              <a:rPr lang="en-US" sz="1600" dirty="0">
                <a:latin typeface="Arial" panose="020B0604020202020204" pitchFamily="34" charset="0"/>
                <a:cs typeface="Arial" panose="020B0604020202020204" pitchFamily="34" charset="0"/>
              </a:rPr>
              <a:t>Noise driven activity of the network after learning showing the presence of network bursts.</a:t>
            </a:r>
            <a:endParaRPr lang="en-US" sz="16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410C3D64-608F-E8A1-EB54-5175B539FB36}"/>
                  </a:ext>
                </a:extLst>
              </p:cNvPr>
              <p:cNvSpPr txBox="1"/>
              <p:nvPr/>
            </p:nvSpPr>
            <p:spPr>
              <a:xfrm>
                <a:off x="21169205" y="9489820"/>
                <a:ext cx="7032671"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STDP rule evolving synaptic weights (just </a:t>
                </a:r>
                <a14:m>
                  <m:oMath xmlns:m="http://schemas.openxmlformats.org/officeDocument/2006/math">
                    <m:sSub>
                      <m:sSubPr>
                        <m:ctrlPr>
                          <a:rPr lang="en-CA" sz="1600" b="1" i="1">
                            <a:latin typeface="Cambria Math" panose="02040503050406030204" pitchFamily="18" charset="0"/>
                            <a:cs typeface="Arial" panose="020B0604020202020204" pitchFamily="34" charset="0"/>
                          </a:rPr>
                        </m:ctrlPr>
                      </m:sSubPr>
                      <m:e>
                        <m:r>
                          <a:rPr lang="en-CA" sz="1600" b="1" i="1">
                            <a:latin typeface="Cambria Math" panose="02040503050406030204" pitchFamily="18" charset="0"/>
                            <a:cs typeface="Arial" panose="020B0604020202020204" pitchFamily="34" charset="0"/>
                          </a:rPr>
                          <m:t>𝒈</m:t>
                        </m:r>
                      </m:e>
                      <m:sub>
                        <m:r>
                          <a:rPr lang="en-CA" sz="1600" b="1" i="1">
                            <a:latin typeface="Cambria Math" panose="02040503050406030204" pitchFamily="18" charset="0"/>
                            <a:cs typeface="Arial" panose="020B0604020202020204" pitchFamily="34" charset="0"/>
                          </a:rPr>
                          <m:t>𝒆𝒆</m:t>
                        </m:r>
                      </m:sub>
                    </m:sSub>
                  </m:oMath>
                </a14:m>
                <a:r>
                  <a:rPr lang="en-US" sz="1600" dirty="0">
                    <a:latin typeface="Arial" panose="020B0604020202020204" pitchFamily="34" charset="0"/>
                    <a:cs typeface="Arial" panose="020B0604020202020204" pitchFamily="34" charset="0"/>
                  </a:rPr>
                  <a:t>) in time. </a:t>
                </a:r>
                <a:r>
                  <a:rPr lang="en-US" sz="1600" b="1" dirty="0">
                    <a:latin typeface="Arial" panose="020B0604020202020204" pitchFamily="34" charset="0"/>
                    <a:cs typeface="Arial" panose="020B0604020202020204" pitchFamily="34" charset="0"/>
                  </a:rPr>
                  <a:t>Left: </a:t>
                </a:r>
                <a:r>
                  <a:rPr lang="en-US" sz="1600" dirty="0">
                    <a:latin typeface="Arial" panose="020B0604020202020204" pitchFamily="34" charset="0"/>
                    <a:cs typeface="Arial" panose="020B0604020202020204" pitchFamily="34" charset="0"/>
                  </a:rPr>
                  <a:t>Initial</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histogram of synaptic weights before learning. </a:t>
                </a:r>
                <a:r>
                  <a:rPr lang="en-US" sz="1600" b="1" dirty="0">
                    <a:latin typeface="Arial" panose="020B0604020202020204" pitchFamily="34" charset="0"/>
                    <a:cs typeface="Arial" panose="020B0604020202020204" pitchFamily="34" charset="0"/>
                  </a:rPr>
                  <a:t>Right: </a:t>
                </a:r>
                <a:r>
                  <a:rPr lang="en-US" sz="1600" dirty="0">
                    <a:latin typeface="Arial" panose="020B0604020202020204" pitchFamily="34" charset="0"/>
                    <a:cs typeface="Arial" panose="020B0604020202020204" pitchFamily="34" charset="0"/>
                  </a:rPr>
                  <a:t>Histogram of synaptic weights at the end of the learning phase. </a:t>
                </a:r>
                <a:endParaRPr lang="en-US" sz="1600" b="1" dirty="0">
                  <a:latin typeface="Arial" panose="020B0604020202020204" pitchFamily="34" charset="0"/>
                  <a:cs typeface="Arial" panose="020B0604020202020204" pitchFamily="34" charset="0"/>
                </a:endParaRPr>
              </a:p>
            </p:txBody>
          </p:sp>
        </mc:Choice>
        <mc:Fallback xmlns="">
          <p:sp>
            <p:nvSpPr>
              <p:cNvPr id="132" name="TextBox 131">
                <a:extLst>
                  <a:ext uri="{FF2B5EF4-FFF2-40B4-BE49-F238E27FC236}">
                    <a16:creationId xmlns:a16="http://schemas.microsoft.com/office/drawing/2014/main" id="{410C3D64-608F-E8A1-EB54-5175B539FB36}"/>
                  </a:ext>
                </a:extLst>
              </p:cNvPr>
              <p:cNvSpPr txBox="1">
                <a:spLocks noRot="1" noChangeAspect="1" noMove="1" noResize="1" noEditPoints="1" noAdjustHandles="1" noChangeArrowheads="1" noChangeShapeType="1" noTextEdit="1"/>
              </p:cNvSpPr>
              <p:nvPr/>
            </p:nvSpPr>
            <p:spPr>
              <a:xfrm>
                <a:off x="21169205" y="9489820"/>
                <a:ext cx="7032671" cy="830997"/>
              </a:xfrm>
              <a:prstGeom prst="rect">
                <a:avLst/>
              </a:prstGeom>
              <a:blipFill>
                <a:blip r:embed="rId37"/>
                <a:stretch>
                  <a:fillRect l="-520" t="-2206" r="-1214" b="-8824"/>
                </a:stretch>
              </a:blipFill>
            </p:spPr>
            <p:txBody>
              <a:bodyPr/>
              <a:lstStyle/>
              <a:p>
                <a:r>
                  <a:rPr lang="en-CA">
                    <a:noFill/>
                  </a:rPr>
                  <a:t> </a:t>
                </a:r>
              </a:p>
            </p:txBody>
          </p:sp>
        </mc:Fallback>
      </mc:AlternateContent>
      <p:cxnSp>
        <p:nvCxnSpPr>
          <p:cNvPr id="133" name="Straight Arrow Connector 132">
            <a:extLst>
              <a:ext uri="{FF2B5EF4-FFF2-40B4-BE49-F238E27FC236}">
                <a16:creationId xmlns:a16="http://schemas.microsoft.com/office/drawing/2014/main" id="{8AFB2107-477C-8FAA-1864-5E77A7B69B67}"/>
              </a:ext>
            </a:extLst>
          </p:cNvPr>
          <p:cNvCxnSpPr>
            <a:cxnSpLocks/>
            <a:stCxn id="138" idx="5"/>
            <a:endCxn id="134" idx="0"/>
          </p:cNvCxnSpPr>
          <p:nvPr/>
        </p:nvCxnSpPr>
        <p:spPr>
          <a:xfrm>
            <a:off x="6742693" y="15705990"/>
            <a:ext cx="1443976" cy="693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5EDD0BFE-BC99-D953-EC67-8B1F7009307A}"/>
              </a:ext>
            </a:extLst>
          </p:cNvPr>
          <p:cNvSpPr txBox="1"/>
          <p:nvPr/>
        </p:nvSpPr>
        <p:spPr>
          <a:xfrm>
            <a:off x="6822728" y="16399713"/>
            <a:ext cx="2727881" cy="369332"/>
          </a:xfrm>
          <a:prstGeom prst="rect">
            <a:avLst/>
          </a:prstGeom>
          <a:noFill/>
        </p:spPr>
        <p:txBody>
          <a:bodyPr wrap="square" rtlCol="0">
            <a:spAutoFit/>
          </a:bodyPr>
          <a:lstStyle/>
          <a:p>
            <a:r>
              <a:rPr lang="en-CA">
                <a:latin typeface="Arial" panose="020B0604020202020204" pitchFamily="34" charset="0"/>
                <a:cs typeface="Arial" panose="020B0604020202020204" pitchFamily="34" charset="0"/>
              </a:rPr>
              <a:t>Neuron Input Current</a:t>
            </a:r>
          </a:p>
        </p:txBody>
      </p:sp>
      <p:sp>
        <p:nvSpPr>
          <p:cNvPr id="138" name="Oval 137">
            <a:extLst>
              <a:ext uri="{FF2B5EF4-FFF2-40B4-BE49-F238E27FC236}">
                <a16:creationId xmlns:a16="http://schemas.microsoft.com/office/drawing/2014/main" id="{AFA29CBF-C317-44B1-DD69-611142ECF1A3}"/>
              </a:ext>
            </a:extLst>
          </p:cNvPr>
          <p:cNvSpPr/>
          <p:nvPr/>
        </p:nvSpPr>
        <p:spPr>
          <a:xfrm>
            <a:off x="6472577" y="15311665"/>
            <a:ext cx="316461" cy="461980"/>
          </a:xfrm>
          <a:prstGeom prst="ellipse">
            <a:avLst/>
          </a:prstGeom>
          <a:solidFill>
            <a:schemeClr val="bg1"/>
          </a:solid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799"/>
          </a:p>
        </p:txBody>
      </p:sp>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681A3C08-A621-4D75-98AF-043076849768}"/>
                  </a:ext>
                </a:extLst>
              </p:cNvPr>
              <p:cNvSpPr txBox="1"/>
              <p:nvPr/>
            </p:nvSpPr>
            <p:spPr>
              <a:xfrm>
                <a:off x="1368255" y="15246059"/>
                <a:ext cx="5609146" cy="620491"/>
              </a:xfrm>
              <a:prstGeom prst="rect">
                <a:avLst/>
              </a:prstGeom>
              <a:noFill/>
            </p:spPr>
            <p:txBody>
              <a:bodyPr wrap="square" lIns="0" tIns="0" rIns="0" bIns="0" rtlCol="0">
                <a:spAutoFit/>
              </a:bodyPr>
              <a:lstStyle/>
              <a:p>
                <a:r>
                  <a:rPr lang="en-CA" sz="2799">
                    <a:latin typeface="Arial" panose="020B0604020202020204" pitchFamily="34" charset="0"/>
                    <a:cs typeface="Arial" panose="020B0604020202020204" pitchFamily="34" charset="0"/>
                  </a:rPr>
                  <a:t>	</a:t>
                </a:r>
                <a14:m>
                  <m:oMath xmlns:m="http://schemas.openxmlformats.org/officeDocument/2006/math">
                    <m:f>
                      <m:fPr>
                        <m:ctrlPr>
                          <a:rPr lang="en-CA" sz="2799" i="1">
                            <a:latin typeface="Cambria Math" panose="02040503050406030204" pitchFamily="18" charset="0"/>
                          </a:rPr>
                        </m:ctrlPr>
                      </m:fPr>
                      <m:num>
                        <m:r>
                          <a:rPr lang="en-CA" sz="2799" i="1">
                            <a:latin typeface="Cambria Math" panose="02040503050406030204" pitchFamily="18" charset="0"/>
                          </a:rPr>
                          <m:t>𝑑𝑣</m:t>
                        </m:r>
                      </m:num>
                      <m:den>
                        <m:r>
                          <a:rPr lang="en-CA" sz="2799" i="1">
                            <a:latin typeface="Cambria Math" panose="02040503050406030204" pitchFamily="18" charset="0"/>
                          </a:rPr>
                          <m:t>𝑑𝑡</m:t>
                        </m:r>
                      </m:den>
                    </m:f>
                    <m:r>
                      <a:rPr lang="en-CA" sz="2799" i="1">
                        <a:latin typeface="Cambria Math" panose="02040503050406030204" pitchFamily="18" charset="0"/>
                      </a:rPr>
                      <m:t>=0.04</m:t>
                    </m:r>
                    <m:sSup>
                      <m:sSupPr>
                        <m:ctrlPr>
                          <a:rPr lang="en-CA" sz="2799" i="1">
                            <a:latin typeface="Cambria Math" panose="02040503050406030204" pitchFamily="18" charset="0"/>
                          </a:rPr>
                        </m:ctrlPr>
                      </m:sSupPr>
                      <m:e>
                        <m:r>
                          <a:rPr lang="en-CA" sz="2799" i="1">
                            <a:latin typeface="Cambria Math" panose="02040503050406030204" pitchFamily="18" charset="0"/>
                          </a:rPr>
                          <m:t>𝑣</m:t>
                        </m:r>
                      </m:e>
                      <m:sup>
                        <m:r>
                          <a:rPr lang="en-CA" sz="2799" i="1">
                            <a:latin typeface="Cambria Math" panose="02040503050406030204" pitchFamily="18" charset="0"/>
                          </a:rPr>
                          <m:t>2</m:t>
                        </m:r>
                      </m:sup>
                    </m:sSup>
                    <m:r>
                      <a:rPr lang="en-CA" sz="2799" i="1">
                        <a:latin typeface="Cambria Math" panose="02040503050406030204" pitchFamily="18" charset="0"/>
                      </a:rPr>
                      <m:t>+5</m:t>
                    </m:r>
                    <m:r>
                      <a:rPr lang="en-CA" sz="2799" i="1">
                        <a:latin typeface="Cambria Math" panose="02040503050406030204" pitchFamily="18" charset="0"/>
                      </a:rPr>
                      <m:t>𝑣</m:t>
                    </m:r>
                    <m:r>
                      <a:rPr lang="en-CA" sz="2799" i="1">
                        <a:latin typeface="Cambria Math" panose="02040503050406030204" pitchFamily="18" charset="0"/>
                      </a:rPr>
                      <m:t>+140−</m:t>
                    </m:r>
                    <m:r>
                      <a:rPr lang="en-CA" sz="2799" i="1">
                        <a:latin typeface="Cambria Math" panose="02040503050406030204" pitchFamily="18" charset="0"/>
                      </a:rPr>
                      <m:t>𝑢</m:t>
                    </m:r>
                    <m:r>
                      <a:rPr lang="en-CA" sz="2799" i="1">
                        <a:latin typeface="Cambria Math" panose="02040503050406030204" pitchFamily="18" charset="0"/>
                      </a:rPr>
                      <m:t>+</m:t>
                    </m:r>
                    <m:r>
                      <a:rPr lang="en-CA" sz="2799" i="1">
                        <a:latin typeface="Cambria Math" panose="02040503050406030204" pitchFamily="18" charset="0"/>
                      </a:rPr>
                      <m:t>𝐼</m:t>
                    </m:r>
                  </m:oMath>
                </a14:m>
                <a:endParaRPr lang="en-CA" sz="2799">
                  <a:latin typeface="Arial" panose="020B0604020202020204" pitchFamily="34" charset="0"/>
                  <a:cs typeface="Arial" panose="020B0604020202020204" pitchFamily="34" charset="0"/>
                </a:endParaRPr>
              </a:p>
            </p:txBody>
          </p:sp>
        </mc:Choice>
        <mc:Fallback xmlns="">
          <p:sp>
            <p:nvSpPr>
              <p:cNvPr id="139" name="TextBox 138">
                <a:extLst>
                  <a:ext uri="{FF2B5EF4-FFF2-40B4-BE49-F238E27FC236}">
                    <a16:creationId xmlns:a16="http://schemas.microsoft.com/office/drawing/2014/main" id="{681A3C08-A621-4D75-98AF-043076849768}"/>
                  </a:ext>
                </a:extLst>
              </p:cNvPr>
              <p:cNvSpPr txBox="1">
                <a:spLocks noRot="1" noChangeAspect="1" noMove="1" noResize="1" noEditPoints="1" noAdjustHandles="1" noChangeArrowheads="1" noChangeShapeType="1" noTextEdit="1"/>
              </p:cNvSpPr>
              <p:nvPr/>
            </p:nvSpPr>
            <p:spPr>
              <a:xfrm>
                <a:off x="1368255" y="15246059"/>
                <a:ext cx="5609146" cy="620491"/>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4D6EF6-16A1-488D-B8E4-6AB6D5135487}"/>
                  </a:ext>
                </a:extLst>
              </p:cNvPr>
              <p:cNvSpPr txBox="1"/>
              <p:nvPr/>
            </p:nvSpPr>
            <p:spPr>
              <a:xfrm>
                <a:off x="20251243" y="22642837"/>
                <a:ext cx="8765531" cy="7602081"/>
              </a:xfrm>
              <a:prstGeom prst="rect">
                <a:avLst/>
              </a:prstGeom>
              <a:noFill/>
            </p:spPr>
            <p:txBody>
              <a:bodyPr wrap="square" rtlCol="0">
                <a:spAutoFit/>
              </a:bodyPr>
              <a:lstStyle/>
              <a:p>
                <a:pPr marL="400442" indent="-400442" algn="just">
                  <a:spcAft>
                    <a:spcPts val="1200"/>
                  </a:spcAft>
                  <a:buFont typeface="Arial" panose="020B0604020202020204" pitchFamily="34" charset="0"/>
                  <a:buChar char="•"/>
                </a:pPr>
                <a:r>
                  <a:rPr lang="en-CA" sz="2800" b="1" dirty="0">
                    <a:latin typeface="Arial" panose="020B0604020202020204" pitchFamily="34" charset="0"/>
                    <a:cs typeface="Arial" panose="020B0604020202020204" pitchFamily="34" charset="0"/>
                  </a:rPr>
                  <a:t>Decoder Development:</a:t>
                </a:r>
                <a:r>
                  <a:rPr lang="en-CA" sz="2800" dirty="0">
                    <a:latin typeface="Arial" panose="020B0604020202020204" pitchFamily="34" charset="0"/>
                    <a:cs typeface="Arial" panose="020B0604020202020204" pitchFamily="34" charset="0"/>
                  </a:rPr>
                  <a:t> Build a decoder population of neurons to read the current network activity and identify active memories online.</a:t>
                </a:r>
                <a:endParaRPr lang="en-CA" sz="2800" b="1" dirty="0">
                  <a:latin typeface="Arial" panose="020B0604020202020204" pitchFamily="34" charset="0"/>
                  <a:cs typeface="Arial" panose="020B0604020202020204" pitchFamily="34" charset="0"/>
                </a:endParaRPr>
              </a:p>
              <a:p>
                <a:pPr marL="400442" indent="-400442" algn="just">
                  <a:spcAft>
                    <a:spcPts val="1200"/>
                  </a:spcAft>
                  <a:buFont typeface="Arial" panose="020B0604020202020204" pitchFamily="34" charset="0"/>
                  <a:buChar char="•"/>
                </a:pPr>
                <a:r>
                  <a:rPr lang="en-CA" sz="2800" b="1" dirty="0">
                    <a:latin typeface="Arial" panose="020B0604020202020204" pitchFamily="34" charset="0"/>
                    <a:cs typeface="Arial" panose="020B0604020202020204" pitchFamily="34" charset="0"/>
                  </a:rPr>
                  <a:t>Heterogeneity:</a:t>
                </a:r>
                <a:r>
                  <a:rPr lang="en-CA" sz="2800" dirty="0">
                    <a:latin typeface="Arial" panose="020B0604020202020204" pitchFamily="34" charset="0"/>
                    <a:cs typeface="Arial" panose="020B0604020202020204" pitchFamily="34" charset="0"/>
                  </a:rPr>
                  <a:t> Introduce parameters variability in the Izhikevich model to better describe actual neural circuits, e.g., cortex or hippocampus.</a:t>
                </a:r>
              </a:p>
              <a:p>
                <a:pPr marL="400442" indent="-400442" algn="just">
                  <a:spcAft>
                    <a:spcPts val="1200"/>
                  </a:spcAft>
                  <a:buFont typeface="Arial" panose="020B0604020202020204" pitchFamily="34" charset="0"/>
                  <a:buChar char="•"/>
                </a:pPr>
                <a:r>
                  <a:rPr lang="en-CA" sz="2800" b="1" dirty="0">
                    <a:latin typeface="Arial" panose="020B0604020202020204" pitchFamily="34" charset="0"/>
                    <a:cs typeface="Arial" panose="020B0604020202020204" pitchFamily="34" charset="0"/>
                  </a:rPr>
                  <a:t>Memory Capacity: </a:t>
                </a:r>
                <a:r>
                  <a:rPr lang="en-CA" sz="2800" dirty="0">
                    <a:latin typeface="Arial" panose="020B0604020202020204" pitchFamily="34" charset="0"/>
                    <a:cs typeface="Arial" panose="020B0604020202020204" pitchFamily="34" charset="0"/>
                  </a:rPr>
                  <a:t>Quantify the network memory storage and retrieval capabilities.</a:t>
                </a:r>
              </a:p>
              <a:p>
                <a:pPr marL="400442" indent="-400442" algn="just">
                  <a:spcAft>
                    <a:spcPts val="1200"/>
                  </a:spcAft>
                  <a:buFont typeface="Arial" panose="020B0604020202020204" pitchFamily="34" charset="0"/>
                  <a:buChar char="•"/>
                </a:pPr>
                <a:r>
                  <a:rPr lang="en-CA" sz="2800" b="1" dirty="0">
                    <a:latin typeface="Arial" panose="020B0604020202020204" pitchFamily="34" charset="0"/>
                    <a:cs typeface="Arial" panose="020B0604020202020204" pitchFamily="34" charset="0"/>
                  </a:rPr>
                  <a:t>Feature Analysis:</a:t>
                </a:r>
                <a:r>
                  <a:rPr lang="en-CA" sz="2800" dirty="0">
                    <a:latin typeface="Arial" panose="020B0604020202020204" pitchFamily="34" charset="0"/>
                    <a:cs typeface="Arial" panose="020B0604020202020204" pitchFamily="34" charset="0"/>
                  </a:rPr>
                  <a:t> Examine additional features beyond time to first spike ordering of learned activity which could be timing of other neuronal spikes after the first one.</a:t>
                </a:r>
              </a:p>
              <a:p>
                <a:pPr marL="400442" indent="-400442" algn="just">
                  <a:spcAft>
                    <a:spcPts val="1200"/>
                  </a:spcAft>
                  <a:buFont typeface="Arial" panose="020B0604020202020204" pitchFamily="34" charset="0"/>
                  <a:buChar char="•"/>
                </a:pPr>
                <a:r>
                  <a:rPr lang="en-CA" sz="2800" b="1" dirty="0">
                    <a:latin typeface="Arial" panose="020B0604020202020204" pitchFamily="34" charset="0"/>
                    <a:cs typeface="Arial" panose="020B0604020202020204" pitchFamily="34" charset="0"/>
                  </a:rPr>
                  <a:t>Plasticity Mechanisms: </a:t>
                </a:r>
                <a:r>
                  <a:rPr lang="en-CA" sz="2800" dirty="0">
                    <a:latin typeface="Arial" panose="020B0604020202020204" pitchFamily="34" charset="0"/>
                    <a:cs typeface="Arial" panose="020B0604020202020204" pitchFamily="34" charset="0"/>
                  </a:rPr>
                  <a:t>incorporate additional plasticity mechanisms, including synaptic scaling and more detailed STDP rules. Also apply plasticity to the  other two </a:t>
                </a:r>
                <a14:m>
                  <m:oMath xmlns:m="http://schemas.openxmlformats.org/officeDocument/2006/math">
                    <m:sSub>
                      <m:sSubPr>
                        <m:ctrlPr>
                          <a:rPr lang="en-CA" sz="2800" i="1">
                            <a:latin typeface="Cambria Math" panose="02040503050406030204" pitchFamily="18" charset="0"/>
                            <a:cs typeface="Arial" panose="020B0604020202020204" pitchFamily="34" charset="0"/>
                          </a:rPr>
                        </m:ctrlPr>
                      </m:sSubPr>
                      <m:e>
                        <m:r>
                          <a:rPr lang="en-CA" sz="2800" i="1">
                            <a:latin typeface="Cambria Math" panose="02040503050406030204" pitchFamily="18" charset="0"/>
                            <a:cs typeface="Arial" panose="020B0604020202020204" pitchFamily="34" charset="0"/>
                          </a:rPr>
                          <m:t>𝑔</m:t>
                        </m:r>
                      </m:e>
                      <m:sub>
                        <m:r>
                          <a:rPr lang="en-CA" sz="2800" i="1">
                            <a:latin typeface="Cambria Math" panose="02040503050406030204" pitchFamily="18" charset="0"/>
                            <a:cs typeface="Arial" panose="020B0604020202020204" pitchFamily="34" charset="0"/>
                          </a:rPr>
                          <m:t>𝑒𝑖</m:t>
                        </m:r>
                      </m:sub>
                    </m:sSub>
                  </m:oMath>
                </a14:m>
                <a:r>
                  <a:rPr lang="en-CA" sz="2800" dirty="0">
                    <a:latin typeface="Arial" panose="020B0604020202020204" pitchFamily="34" charset="0"/>
                    <a:cs typeface="Arial" panose="020B0604020202020204" pitchFamily="34" charset="0"/>
                  </a:rPr>
                  <a:t> and </a:t>
                </a:r>
                <a14:m>
                  <m:oMath xmlns:m="http://schemas.openxmlformats.org/officeDocument/2006/math">
                    <m:sSub>
                      <m:sSubPr>
                        <m:ctrlPr>
                          <a:rPr lang="en-CA" sz="2800" i="1">
                            <a:latin typeface="Cambria Math" panose="02040503050406030204" pitchFamily="18" charset="0"/>
                            <a:cs typeface="Arial" panose="020B0604020202020204" pitchFamily="34" charset="0"/>
                          </a:rPr>
                        </m:ctrlPr>
                      </m:sSubPr>
                      <m:e>
                        <m:r>
                          <a:rPr lang="en-CA" sz="2800" i="1">
                            <a:latin typeface="Cambria Math" panose="02040503050406030204" pitchFamily="18" charset="0"/>
                            <a:cs typeface="Arial" panose="020B0604020202020204" pitchFamily="34" charset="0"/>
                          </a:rPr>
                          <m:t>𝑔</m:t>
                        </m:r>
                      </m:e>
                      <m:sub>
                        <m:r>
                          <a:rPr lang="en-CA" sz="2800" i="1">
                            <a:latin typeface="Cambria Math" panose="02040503050406030204" pitchFamily="18" charset="0"/>
                            <a:cs typeface="Arial" panose="020B0604020202020204" pitchFamily="34" charset="0"/>
                          </a:rPr>
                          <m:t>𝑖𝑒</m:t>
                        </m:r>
                      </m:sub>
                    </m:sSub>
                    <m:r>
                      <a:rPr lang="en-CA" sz="2800" i="1">
                        <a:latin typeface="Cambria Math" panose="02040503050406030204" pitchFamily="18" charset="0"/>
                        <a:cs typeface="Arial" panose="020B0604020202020204" pitchFamily="34" charset="0"/>
                      </a:rPr>
                      <m:t> </m:t>
                    </m:r>
                  </m:oMath>
                </a14:m>
                <a:r>
                  <a:rPr lang="en-CA" sz="2800" dirty="0">
                    <a:latin typeface="Arial" panose="020B0604020202020204" pitchFamily="34" charset="0"/>
                    <a:cs typeface="Arial" panose="020B0604020202020204" pitchFamily="34" charset="0"/>
                  </a:rPr>
                  <a:t>connections.</a:t>
                </a:r>
              </a:p>
            </p:txBody>
          </p:sp>
        </mc:Choice>
        <mc:Fallback xmlns="">
          <p:sp>
            <p:nvSpPr>
              <p:cNvPr id="17" name="TextBox 16">
                <a:extLst>
                  <a:ext uri="{FF2B5EF4-FFF2-40B4-BE49-F238E27FC236}">
                    <a16:creationId xmlns:a16="http://schemas.microsoft.com/office/drawing/2014/main" id="{994D6EF6-16A1-488D-B8E4-6AB6D5135487}"/>
                  </a:ext>
                </a:extLst>
              </p:cNvPr>
              <p:cNvSpPr txBox="1">
                <a:spLocks noRot="1" noChangeAspect="1" noMove="1" noResize="1" noEditPoints="1" noAdjustHandles="1" noChangeArrowheads="1" noChangeShapeType="1" noTextEdit="1"/>
              </p:cNvSpPr>
              <p:nvPr/>
            </p:nvSpPr>
            <p:spPr>
              <a:xfrm>
                <a:off x="20251243" y="22642837"/>
                <a:ext cx="8765531" cy="7602081"/>
              </a:xfrm>
              <a:prstGeom prst="rect">
                <a:avLst/>
              </a:prstGeom>
              <a:blipFill>
                <a:blip r:embed="rId39"/>
                <a:stretch>
                  <a:fillRect l="-1252" t="-802" r="-1460" b="-1283"/>
                </a:stretch>
              </a:blipFill>
            </p:spPr>
            <p:txBody>
              <a:bodyPr/>
              <a:lstStyle/>
              <a:p>
                <a:r>
                  <a:rPr lang="en-CA">
                    <a:noFill/>
                  </a:rPr>
                  <a:t> </a:t>
                </a:r>
              </a:p>
            </p:txBody>
          </p:sp>
        </mc:Fallback>
      </mc:AlternateContent>
      <p:pic>
        <p:nvPicPr>
          <p:cNvPr id="2" name="Picture 1">
            <a:extLst>
              <a:ext uri="{FF2B5EF4-FFF2-40B4-BE49-F238E27FC236}">
                <a16:creationId xmlns:a16="http://schemas.microsoft.com/office/drawing/2014/main" id="{31208533-C3E4-7D55-8154-615B05316C90}"/>
              </a:ext>
            </a:extLst>
          </p:cNvPr>
          <p:cNvPicPr>
            <a:picLocks noChangeAspect="1"/>
          </p:cNvPicPr>
          <p:nvPr/>
        </p:nvPicPr>
        <p:blipFill rotWithShape="1">
          <a:blip r:embed="rId20"/>
          <a:srcRect l="14921" t="5184" r="60789" b="81505"/>
          <a:stretch/>
        </p:blipFill>
        <p:spPr>
          <a:xfrm>
            <a:off x="11404650" y="5357230"/>
            <a:ext cx="999461" cy="528841"/>
          </a:xfrm>
          <a:prstGeom prst="rect">
            <a:avLst/>
          </a:prstGeom>
        </p:spPr>
      </p:pic>
      <p:pic>
        <p:nvPicPr>
          <p:cNvPr id="22" name="Picture 21" descr="A graph showing the number of bars&#10;&#10;Description automatically generated with medium confidence">
            <a:extLst>
              <a:ext uri="{FF2B5EF4-FFF2-40B4-BE49-F238E27FC236}">
                <a16:creationId xmlns:a16="http://schemas.microsoft.com/office/drawing/2014/main" id="{93562930-1B58-A56C-9C2C-F5A414356702}"/>
              </a:ext>
            </a:extLst>
          </p:cNvPr>
          <p:cNvPicPr>
            <a:picLocks noChangeAspect="1"/>
          </p:cNvPicPr>
          <p:nvPr/>
        </p:nvPicPr>
        <p:blipFill rotWithShape="1">
          <a:blip r:embed="rId40">
            <a:extLst>
              <a:ext uri="{28A0092B-C50C-407E-A947-70E740481C1C}">
                <a14:useLocalDpi xmlns:a14="http://schemas.microsoft.com/office/drawing/2010/main" val="0"/>
              </a:ext>
            </a:extLst>
          </a:blip>
          <a:srcRect l="15847" t="41126" r="52724" b="42963"/>
          <a:stretch/>
        </p:blipFill>
        <p:spPr>
          <a:xfrm>
            <a:off x="15455672" y="21607708"/>
            <a:ext cx="3938065" cy="2818137"/>
          </a:xfrm>
          <a:prstGeom prst="rect">
            <a:avLst/>
          </a:prstGeom>
        </p:spPr>
      </p:pic>
    </p:spTree>
    <p:extLst>
      <p:ext uri="{BB962C8B-B14F-4D97-AF65-F5344CB8AC3E}">
        <p14:creationId xmlns:p14="http://schemas.microsoft.com/office/powerpoint/2010/main" val="1655812931"/>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81</TotalTime>
  <Words>974</Words>
  <Application>Microsoft Macintosh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Arial Black</vt:lpstr>
      <vt:lpstr>Calibri</vt:lpstr>
      <vt:lpstr>Calibri Light</vt:lpstr>
      <vt:lpstr>Cambria Math</vt:lpstr>
      <vt:lpstr>Office 2013 - 2022 Theme</vt:lpstr>
      <vt:lpstr>PowerPoint Presentation</vt:lpstr>
    </vt:vector>
  </TitlesOfParts>
  <Company>University of Calgary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Arshia Razavi</dc:creator>
  <cp:lastModifiedBy>Arshia Razavi</cp:lastModifiedBy>
  <cp:revision>3</cp:revision>
  <dcterms:created xsi:type="dcterms:W3CDTF">2024-06-07T21:01:56Z</dcterms:created>
  <dcterms:modified xsi:type="dcterms:W3CDTF">2024-06-14T07:37:08Z</dcterms:modified>
</cp:coreProperties>
</file>