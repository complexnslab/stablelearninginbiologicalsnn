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</p:sldIdLst>
  <p:sldSz cx="18000663" cy="4319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48"/>
  </p:normalViewPr>
  <p:slideViewPr>
    <p:cSldViewPr snapToGrid="0">
      <p:cViewPr varScale="1">
        <p:scale>
          <a:sx n="111" d="100"/>
          <a:sy n="111" d="100"/>
        </p:scale>
        <p:origin x="156" y="17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653181586970568"/>
          <c:y val="0.24080567023347182"/>
          <c:w val="0.76838712660872155"/>
          <c:h val="0.64524785049023992"/>
        </c:manualLayout>
      </c:layout>
      <c:scatterChart>
        <c:scatterStyle val="smooth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677225439"/>
        <c:axId val="519194655"/>
      </c:scatterChart>
      <c:valAx>
        <c:axId val="677225439"/>
        <c:scaling>
          <c:orientation val="minMax"/>
        </c:scaling>
        <c:delete val="1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519194655"/>
        <c:crosses val="autoZero"/>
        <c:crossBetween val="midCat"/>
      </c:valAx>
      <c:valAx>
        <c:axId val="51919465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77225439"/>
        <c:crosses val="autoZero"/>
        <c:crossBetween val="midCat"/>
      </c:valAx>
      <c:spPr>
        <a:solidFill>
          <a:sysClr val="window" lastClr="FFFFFF"/>
        </a:solidFill>
        <a:ln>
          <a:solidFill>
            <a:schemeClr val="bg1"/>
          </a:solidFill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254000">
      <a:solidFill>
        <a:schemeClr val="bg1"/>
      </a:solidFill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706933"/>
            <a:ext cx="13500497" cy="1503857"/>
          </a:xfrm>
        </p:spPr>
        <p:txBody>
          <a:bodyPr anchor="b"/>
          <a:lstStyle>
            <a:lvl1pPr algn="ctr"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2268784"/>
            <a:ext cx="13500497" cy="1042900"/>
          </a:xfrm>
        </p:spPr>
        <p:txBody>
          <a:bodyPr/>
          <a:lstStyle>
            <a:lvl1pPr marL="0" indent="0" algn="ctr">
              <a:buNone/>
              <a:defRPr sz="1512"/>
            </a:lvl1pPr>
            <a:lvl2pPr marL="287990" indent="0" algn="ctr">
              <a:buNone/>
              <a:defRPr sz="1260"/>
            </a:lvl2pPr>
            <a:lvl3pPr marL="575981" indent="0" algn="ctr">
              <a:buNone/>
              <a:defRPr sz="1134"/>
            </a:lvl3pPr>
            <a:lvl4pPr marL="863971" indent="0" algn="ctr">
              <a:buNone/>
              <a:defRPr sz="1008"/>
            </a:lvl4pPr>
            <a:lvl5pPr marL="1151961" indent="0" algn="ctr">
              <a:buNone/>
              <a:defRPr sz="1008"/>
            </a:lvl5pPr>
            <a:lvl6pPr marL="1439951" indent="0" algn="ctr">
              <a:buNone/>
              <a:defRPr sz="1008"/>
            </a:lvl6pPr>
            <a:lvl7pPr marL="1727942" indent="0" algn="ctr">
              <a:buNone/>
              <a:defRPr sz="1008"/>
            </a:lvl7pPr>
            <a:lvl8pPr marL="2015932" indent="0" algn="ctr">
              <a:buNone/>
              <a:defRPr sz="1008"/>
            </a:lvl8pPr>
            <a:lvl9pPr marL="2303922" indent="0" algn="ctr">
              <a:buNone/>
              <a:defRPr sz="10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51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061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1076898"/>
            <a:ext cx="15525572" cy="1796828"/>
          </a:xfrm>
        </p:spPr>
        <p:txBody>
          <a:bodyPr anchor="b"/>
          <a:lstStyle>
            <a:lvl1pPr>
              <a:defRPr sz="377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2890725"/>
            <a:ext cx="15525572" cy="944910"/>
          </a:xfrm>
        </p:spPr>
        <p:txBody>
          <a:bodyPr/>
          <a:lstStyle>
            <a:lvl1pPr marL="0" indent="0">
              <a:buNone/>
              <a:defRPr sz="1512">
                <a:solidFill>
                  <a:schemeClr val="tx1">
                    <a:tint val="82000"/>
                  </a:schemeClr>
                </a:solidFill>
              </a:defRPr>
            </a:lvl1pPr>
            <a:lvl2pPr marL="28799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2pPr>
            <a:lvl3pPr marL="575981" indent="0">
              <a:buNone/>
              <a:defRPr sz="1134">
                <a:solidFill>
                  <a:schemeClr val="tx1">
                    <a:tint val="82000"/>
                  </a:schemeClr>
                </a:solidFill>
              </a:defRPr>
            </a:lvl3pPr>
            <a:lvl4pPr marL="86397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4pPr>
            <a:lvl5pPr marL="115196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5pPr>
            <a:lvl6pPr marL="1439951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6pPr>
            <a:lvl7pPr marL="172794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7pPr>
            <a:lvl8pPr marL="201593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8pPr>
            <a:lvl9pPr marL="2303922" indent="0">
              <a:buNone/>
              <a:defRPr sz="100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916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1149892"/>
            <a:ext cx="7650282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1149892"/>
            <a:ext cx="7650282" cy="27407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82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229979"/>
            <a:ext cx="15525572" cy="834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1058899"/>
            <a:ext cx="7615123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1577851"/>
            <a:ext cx="7615123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1058899"/>
            <a:ext cx="7652626" cy="518950"/>
          </a:xfrm>
        </p:spPr>
        <p:txBody>
          <a:bodyPr anchor="b"/>
          <a:lstStyle>
            <a:lvl1pPr marL="0" indent="0">
              <a:buNone/>
              <a:defRPr sz="1512" b="1"/>
            </a:lvl1pPr>
            <a:lvl2pPr marL="287990" indent="0">
              <a:buNone/>
              <a:defRPr sz="1260" b="1"/>
            </a:lvl2pPr>
            <a:lvl3pPr marL="575981" indent="0">
              <a:buNone/>
              <a:defRPr sz="1134" b="1"/>
            </a:lvl3pPr>
            <a:lvl4pPr marL="863971" indent="0">
              <a:buNone/>
              <a:defRPr sz="1008" b="1"/>
            </a:lvl4pPr>
            <a:lvl5pPr marL="1151961" indent="0">
              <a:buNone/>
              <a:defRPr sz="1008" b="1"/>
            </a:lvl5pPr>
            <a:lvl6pPr marL="1439951" indent="0">
              <a:buNone/>
              <a:defRPr sz="1008" b="1"/>
            </a:lvl6pPr>
            <a:lvl7pPr marL="1727942" indent="0">
              <a:buNone/>
              <a:defRPr sz="1008" b="1"/>
            </a:lvl7pPr>
            <a:lvl8pPr marL="2015932" indent="0">
              <a:buNone/>
              <a:defRPr sz="1008" b="1"/>
            </a:lvl8pPr>
            <a:lvl9pPr marL="2303922" indent="0">
              <a:buNone/>
              <a:defRPr sz="100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1577851"/>
            <a:ext cx="7652626" cy="23207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970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66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5049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2" y="287972"/>
            <a:ext cx="5805682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621942"/>
            <a:ext cx="9112836" cy="3069707"/>
          </a:xfrm>
        </p:spPr>
        <p:txBody>
          <a:bodyPr/>
          <a:lstStyle>
            <a:lvl1pPr>
              <a:defRPr sz="2016"/>
            </a:lvl1pPr>
            <a:lvl2pPr>
              <a:defRPr sz="1764"/>
            </a:lvl2pPr>
            <a:lvl3pPr>
              <a:defRPr sz="1512"/>
            </a:lvl3pPr>
            <a:lvl4pPr>
              <a:defRPr sz="1260"/>
            </a:lvl4pPr>
            <a:lvl5pPr>
              <a:defRPr sz="1260"/>
            </a:lvl5pPr>
            <a:lvl6pPr>
              <a:defRPr sz="1260"/>
            </a:lvl6pPr>
            <a:lvl7pPr>
              <a:defRPr sz="1260"/>
            </a:lvl7pPr>
            <a:lvl8pPr>
              <a:defRPr sz="1260"/>
            </a:lvl8pPr>
            <a:lvl9pPr>
              <a:defRPr sz="12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2" y="1295878"/>
            <a:ext cx="5805682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87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2" y="287972"/>
            <a:ext cx="5805682" cy="1007904"/>
          </a:xfrm>
        </p:spPr>
        <p:txBody>
          <a:bodyPr anchor="b"/>
          <a:lstStyle>
            <a:lvl1pPr>
              <a:defRPr sz="201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621942"/>
            <a:ext cx="9112836" cy="3069707"/>
          </a:xfrm>
        </p:spPr>
        <p:txBody>
          <a:bodyPr anchor="t"/>
          <a:lstStyle>
            <a:lvl1pPr marL="0" indent="0">
              <a:buNone/>
              <a:defRPr sz="2016"/>
            </a:lvl1pPr>
            <a:lvl2pPr marL="287990" indent="0">
              <a:buNone/>
              <a:defRPr sz="1764"/>
            </a:lvl2pPr>
            <a:lvl3pPr marL="575981" indent="0">
              <a:buNone/>
              <a:defRPr sz="1512"/>
            </a:lvl3pPr>
            <a:lvl4pPr marL="863971" indent="0">
              <a:buNone/>
              <a:defRPr sz="1260"/>
            </a:lvl4pPr>
            <a:lvl5pPr marL="1151961" indent="0">
              <a:buNone/>
              <a:defRPr sz="1260"/>
            </a:lvl5pPr>
            <a:lvl6pPr marL="1439951" indent="0">
              <a:buNone/>
              <a:defRPr sz="1260"/>
            </a:lvl6pPr>
            <a:lvl7pPr marL="1727942" indent="0">
              <a:buNone/>
              <a:defRPr sz="1260"/>
            </a:lvl7pPr>
            <a:lvl8pPr marL="2015932" indent="0">
              <a:buNone/>
              <a:defRPr sz="1260"/>
            </a:lvl8pPr>
            <a:lvl9pPr marL="2303922" indent="0">
              <a:buNone/>
              <a:defRPr sz="12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2" y="1295878"/>
            <a:ext cx="5805682" cy="2400771"/>
          </a:xfrm>
        </p:spPr>
        <p:txBody>
          <a:bodyPr/>
          <a:lstStyle>
            <a:lvl1pPr marL="0" indent="0">
              <a:buNone/>
              <a:defRPr sz="1008"/>
            </a:lvl1pPr>
            <a:lvl2pPr marL="287990" indent="0">
              <a:buNone/>
              <a:defRPr sz="882"/>
            </a:lvl2pPr>
            <a:lvl3pPr marL="575981" indent="0">
              <a:buNone/>
              <a:defRPr sz="756"/>
            </a:lvl3pPr>
            <a:lvl4pPr marL="863971" indent="0">
              <a:buNone/>
              <a:defRPr sz="630"/>
            </a:lvl4pPr>
            <a:lvl5pPr marL="1151961" indent="0">
              <a:buNone/>
              <a:defRPr sz="630"/>
            </a:lvl5pPr>
            <a:lvl6pPr marL="1439951" indent="0">
              <a:buNone/>
              <a:defRPr sz="630"/>
            </a:lvl6pPr>
            <a:lvl7pPr marL="1727942" indent="0">
              <a:buNone/>
              <a:defRPr sz="630"/>
            </a:lvl7pPr>
            <a:lvl8pPr marL="2015932" indent="0">
              <a:buNone/>
              <a:defRPr sz="630"/>
            </a:lvl8pPr>
            <a:lvl9pPr marL="2303922" indent="0">
              <a:buNone/>
              <a:defRPr sz="63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381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27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6" y="229978"/>
            <a:ext cx="3881392" cy="366065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229978"/>
            <a:ext cx="11419171" cy="36606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8B9C8-0904-5843-8A6E-65F31560944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81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229979"/>
            <a:ext cx="15525572" cy="834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1149892"/>
            <a:ext cx="15525572" cy="2740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4003618"/>
            <a:ext cx="4050149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D8B9C8-0904-5843-8A6E-65F315609440}" type="datetimeFigureOut">
              <a:rPr lang="en-US" smtClean="0"/>
              <a:t>6/5/2025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4003618"/>
            <a:ext cx="6075224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9" y="4003618"/>
            <a:ext cx="4050149" cy="2299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039215-E1B6-AD44-AAEE-77B61F5D77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677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75981" rtl="0" eaLnBrk="1" latinLnBrk="0" hangingPunct="1">
        <a:lnSpc>
          <a:spcPct val="90000"/>
        </a:lnSpc>
        <a:spcBef>
          <a:spcPct val="0"/>
        </a:spcBef>
        <a:buNone/>
        <a:defRPr sz="27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3995" indent="-143995" algn="l" defTabSz="575981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1764" kern="1200">
          <a:solidFill>
            <a:schemeClr val="tx1"/>
          </a:solidFill>
          <a:latin typeface="+mn-lt"/>
          <a:ea typeface="+mn-ea"/>
          <a:cs typeface="+mn-cs"/>
        </a:defRPr>
      </a:lvl1pPr>
      <a:lvl2pPr marL="431985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1997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3pPr>
      <a:lvl4pPr marL="100796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295956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58394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87193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15992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447917" indent="-143995" algn="l" defTabSz="575981" rtl="0" eaLnBrk="1" latinLnBrk="0" hangingPunct="1">
        <a:lnSpc>
          <a:spcPct val="90000"/>
        </a:lnSpc>
        <a:spcBef>
          <a:spcPts val="315"/>
        </a:spcBef>
        <a:buFont typeface="Arial" panose="020B0604020202020204" pitchFamily="34" charset="0"/>
        <a:buChar char="•"/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1pPr>
      <a:lvl2pPr marL="287990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2pPr>
      <a:lvl3pPr marL="57598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3pPr>
      <a:lvl4pPr marL="86397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4pPr>
      <a:lvl5pPr marL="115196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5pPr>
      <a:lvl6pPr marL="1439951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6pPr>
      <a:lvl7pPr marL="172794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7pPr>
      <a:lvl8pPr marL="201593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8pPr>
      <a:lvl9pPr marL="2303922" algn="l" defTabSz="575981" rtl="0" eaLnBrk="1" latinLnBrk="0" hangingPunct="1">
        <a:defRPr sz="11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53">
            <a:extLst>
              <a:ext uri="{FF2B5EF4-FFF2-40B4-BE49-F238E27FC236}">
                <a16:creationId xmlns:a16="http://schemas.microsoft.com/office/drawing/2014/main" id="{48F0784B-584C-75B3-DCB3-BBD5BE0D83A8}"/>
              </a:ext>
            </a:extLst>
          </p:cNvPr>
          <p:cNvSpPr txBox="1"/>
          <p:nvPr/>
        </p:nvSpPr>
        <p:spPr>
          <a:xfrm>
            <a:off x="16283636" y="3600151"/>
            <a:ext cx="1127232" cy="6098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3363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49673EB2-D977-BF03-5CB7-00DF00865937}"/>
              </a:ext>
            </a:extLst>
          </p:cNvPr>
          <p:cNvSpPr/>
          <p:nvPr/>
        </p:nvSpPr>
        <p:spPr>
          <a:xfrm rot="3396957">
            <a:off x="8754863" y="1919852"/>
            <a:ext cx="1500416" cy="495860"/>
          </a:xfrm>
          <a:prstGeom prst="ellipse">
            <a:avLst/>
          </a:prstGeom>
          <a:solidFill>
            <a:schemeClr val="bg1"/>
          </a:solidFill>
          <a:ln w="19050"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04DEF3E1-BCCC-3E23-E9FE-02ADEDD41D2E}"/>
              </a:ext>
            </a:extLst>
          </p:cNvPr>
          <p:cNvSpPr txBox="1"/>
          <p:nvPr/>
        </p:nvSpPr>
        <p:spPr>
          <a:xfrm>
            <a:off x="5950990" y="534763"/>
            <a:ext cx="2486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latin typeface="Arial" panose="020B0604020202020204" pitchFamily="34" charset="0"/>
                <a:cs typeface="Arial" panose="020B0604020202020204" pitchFamily="34" charset="0"/>
              </a:rPr>
              <a:t>Spike Train</a:t>
            </a: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393F571B-AE39-0DD9-C2D1-A1BEAFBBDC40}"/>
              </a:ext>
            </a:extLst>
          </p:cNvPr>
          <p:cNvCxnSpPr>
            <a:cxnSpLocks/>
          </p:cNvCxnSpPr>
          <p:nvPr/>
        </p:nvCxnSpPr>
        <p:spPr>
          <a:xfrm flipV="1">
            <a:off x="7642126" y="3320164"/>
            <a:ext cx="9686803" cy="330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A15039E0-A5B8-A24F-1C8A-EFB22903D672}"/>
              </a:ext>
            </a:extLst>
          </p:cNvPr>
          <p:cNvSpPr txBox="1"/>
          <p:nvPr/>
        </p:nvSpPr>
        <p:spPr>
          <a:xfrm>
            <a:off x="894301" y="443806"/>
            <a:ext cx="3023585" cy="480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522" dirty="0">
                <a:latin typeface="Arial" panose="020B0604020202020204" pitchFamily="34" charset="0"/>
                <a:cs typeface="Arial" panose="020B0604020202020204" pitchFamily="34" charset="0"/>
              </a:rPr>
              <a:t>Presynaptic Neuron</a:t>
            </a:r>
          </a:p>
        </p:txBody>
      </p: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EA14C81E-6A63-605F-3F2D-16089D7EDD95}"/>
              </a:ext>
            </a:extLst>
          </p:cNvPr>
          <p:cNvCxnSpPr/>
          <p:nvPr/>
        </p:nvCxnSpPr>
        <p:spPr>
          <a:xfrm>
            <a:off x="9123400" y="256920"/>
            <a:ext cx="0" cy="667343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726D6C6F-AC01-7651-DDDF-BC30F20907C9}"/>
              </a:ext>
            </a:extLst>
          </p:cNvPr>
          <p:cNvCxnSpPr/>
          <p:nvPr/>
        </p:nvCxnSpPr>
        <p:spPr>
          <a:xfrm>
            <a:off x="10811458" y="256920"/>
            <a:ext cx="0" cy="667343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E0F3A5D9-C82A-1E0C-175E-852680B7CAFC}"/>
              </a:ext>
            </a:extLst>
          </p:cNvPr>
          <p:cNvCxnSpPr/>
          <p:nvPr/>
        </p:nvCxnSpPr>
        <p:spPr>
          <a:xfrm>
            <a:off x="11383839" y="256920"/>
            <a:ext cx="0" cy="667343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83AC0403-4892-04FD-20AE-922C21E815D1}"/>
              </a:ext>
            </a:extLst>
          </p:cNvPr>
          <p:cNvCxnSpPr/>
          <p:nvPr/>
        </p:nvCxnSpPr>
        <p:spPr>
          <a:xfrm>
            <a:off x="12878684" y="256920"/>
            <a:ext cx="0" cy="667343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B5DB5594-B6D8-9554-8CB7-37DDCE59D7BD}"/>
              </a:ext>
            </a:extLst>
          </p:cNvPr>
          <p:cNvCxnSpPr/>
          <p:nvPr/>
        </p:nvCxnSpPr>
        <p:spPr>
          <a:xfrm>
            <a:off x="15518814" y="256920"/>
            <a:ext cx="0" cy="667343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7446D146-1B69-8CD3-1E6E-ECD12F93786F}"/>
              </a:ext>
            </a:extLst>
          </p:cNvPr>
          <p:cNvCxnSpPr/>
          <p:nvPr/>
        </p:nvCxnSpPr>
        <p:spPr>
          <a:xfrm>
            <a:off x="14895326" y="256920"/>
            <a:ext cx="0" cy="667343"/>
          </a:xfrm>
          <a:prstGeom prst="line">
            <a:avLst/>
          </a:prstGeom>
          <a:ln w="762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Oval 164">
            <a:extLst>
              <a:ext uri="{FF2B5EF4-FFF2-40B4-BE49-F238E27FC236}">
                <a16:creationId xmlns:a16="http://schemas.microsoft.com/office/drawing/2014/main" id="{95DF6021-802C-EFB7-FDF8-68ADD8268607}"/>
              </a:ext>
            </a:extLst>
          </p:cNvPr>
          <p:cNvSpPr/>
          <p:nvPr/>
        </p:nvSpPr>
        <p:spPr>
          <a:xfrm>
            <a:off x="1738641" y="970790"/>
            <a:ext cx="437266" cy="488111"/>
          </a:xfrm>
          <a:prstGeom prst="ellipse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260"/>
          </a:p>
        </p:txBody>
      </p: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2AB83D36-667B-F294-1FEB-98DC759E6488}"/>
              </a:ext>
            </a:extLst>
          </p:cNvPr>
          <p:cNvCxnSpPr>
            <a:cxnSpLocks/>
            <a:stCxn id="165" idx="4"/>
            <a:endCxn id="173" idx="0"/>
          </p:cNvCxnSpPr>
          <p:nvPr/>
        </p:nvCxnSpPr>
        <p:spPr>
          <a:xfrm>
            <a:off x="1957274" y="1458901"/>
            <a:ext cx="139652" cy="117699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621E0D8E-4AC7-F9F1-B168-6E20CBF60DCD}"/>
              </a:ext>
            </a:extLst>
          </p:cNvPr>
          <p:cNvCxnSpPr>
            <a:cxnSpLocks/>
          </p:cNvCxnSpPr>
          <p:nvPr/>
        </p:nvCxnSpPr>
        <p:spPr>
          <a:xfrm flipH="1">
            <a:off x="9122410" y="924259"/>
            <a:ext cx="990" cy="502264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65A336A3-7C8F-4CB4-7F0F-A081C3988FC7}"/>
                  </a:ext>
                </a:extLst>
              </p:cNvPr>
              <p:cNvSpPr txBox="1"/>
              <p:nvPr/>
            </p:nvSpPr>
            <p:spPr>
              <a:xfrm>
                <a:off x="5642951" y="1764000"/>
                <a:ext cx="2486835" cy="5936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3200" b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Unit</m:t>
                      </m:r>
                      <m:r>
                        <a:rPr lang="en-CA" sz="3200" b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CA" sz="3200" b="0" i="1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PSC</m:t>
                      </m:r>
                      <m:r>
                        <a:rPr lang="en-CA" sz="3200" b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  <m:sSup>
                        <m:sSupPr>
                          <m:ctrlPr>
                            <a:rPr lang="en-CA" sz="320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𝐼</m:t>
                          </m:r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𝑃𝑆𝐶</m:t>
                          </m:r>
                        </m:sup>
                      </m:sSup>
                    </m:oMath>
                  </m:oMathPara>
                </a14:m>
                <a:endParaRPr lang="en-CA" sz="3363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68" name="TextBox 167">
                <a:extLst>
                  <a:ext uri="{FF2B5EF4-FFF2-40B4-BE49-F238E27FC236}">
                    <a16:creationId xmlns:a16="http://schemas.microsoft.com/office/drawing/2014/main" id="{65A336A3-7C8F-4CB4-7F0F-A081C3988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2951" y="1764000"/>
                <a:ext cx="2486835" cy="593624"/>
              </a:xfrm>
              <a:prstGeom prst="rect">
                <a:avLst/>
              </a:prstGeom>
              <a:blipFill>
                <a:blip r:embed="rId2"/>
                <a:stretch>
                  <a:fillRect r="-5392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765FBBE6-B2DF-3B94-8E78-0223451F21EC}"/>
              </a:ext>
            </a:extLst>
          </p:cNvPr>
          <p:cNvCxnSpPr>
            <a:cxnSpLocks/>
            <a:stCxn id="165" idx="5"/>
            <a:endCxn id="174" idx="1"/>
          </p:cNvCxnSpPr>
          <p:nvPr/>
        </p:nvCxnSpPr>
        <p:spPr>
          <a:xfrm>
            <a:off x="2111871" y="1387415"/>
            <a:ext cx="918428" cy="113985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E71EF6E5-F1E8-5651-9828-973D70AB4AF9}"/>
              </a:ext>
            </a:extLst>
          </p:cNvPr>
          <p:cNvCxnSpPr>
            <a:cxnSpLocks/>
            <a:stCxn id="165" idx="2"/>
            <a:endCxn id="172" idx="7"/>
          </p:cNvCxnSpPr>
          <p:nvPr/>
        </p:nvCxnSpPr>
        <p:spPr>
          <a:xfrm flipH="1">
            <a:off x="986817" y="1214842"/>
            <a:ext cx="751824" cy="51983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2BE7D485-0DE2-512F-C863-BAD64B811A94}"/>
              </a:ext>
            </a:extLst>
          </p:cNvPr>
          <p:cNvCxnSpPr>
            <a:cxnSpLocks/>
            <a:stCxn id="165" idx="6"/>
            <a:endCxn id="175" idx="2"/>
          </p:cNvCxnSpPr>
          <p:nvPr/>
        </p:nvCxnSpPr>
        <p:spPr>
          <a:xfrm>
            <a:off x="2175911" y="1214846"/>
            <a:ext cx="2362401" cy="113027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2" name="Oval 171">
            <a:extLst>
              <a:ext uri="{FF2B5EF4-FFF2-40B4-BE49-F238E27FC236}">
                <a16:creationId xmlns:a16="http://schemas.microsoft.com/office/drawing/2014/main" id="{F7A84143-167A-E04E-9559-B45BBC499C7B}"/>
              </a:ext>
            </a:extLst>
          </p:cNvPr>
          <p:cNvSpPr/>
          <p:nvPr/>
        </p:nvSpPr>
        <p:spPr>
          <a:xfrm>
            <a:off x="613587" y="1663200"/>
            <a:ext cx="437266" cy="488111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260"/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05653FFD-6846-A3AE-E1DB-D296D851D8E5}"/>
              </a:ext>
            </a:extLst>
          </p:cNvPr>
          <p:cNvSpPr/>
          <p:nvPr/>
        </p:nvSpPr>
        <p:spPr>
          <a:xfrm>
            <a:off x="1878293" y="2635900"/>
            <a:ext cx="437266" cy="488111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260"/>
          </a:p>
        </p:txBody>
      </p:sp>
      <p:sp>
        <p:nvSpPr>
          <p:cNvPr id="174" name="Oval 173">
            <a:extLst>
              <a:ext uri="{FF2B5EF4-FFF2-40B4-BE49-F238E27FC236}">
                <a16:creationId xmlns:a16="http://schemas.microsoft.com/office/drawing/2014/main" id="{503B017F-0874-7CDC-1A22-1CA04B5E1C84}"/>
              </a:ext>
            </a:extLst>
          </p:cNvPr>
          <p:cNvSpPr/>
          <p:nvPr/>
        </p:nvSpPr>
        <p:spPr>
          <a:xfrm>
            <a:off x="2966263" y="2455791"/>
            <a:ext cx="437266" cy="488111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260"/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E88893FA-F702-1AC3-EC6E-3A440455FAB8}"/>
              </a:ext>
            </a:extLst>
          </p:cNvPr>
          <p:cNvSpPr/>
          <p:nvPr/>
        </p:nvSpPr>
        <p:spPr>
          <a:xfrm>
            <a:off x="4538308" y="2101067"/>
            <a:ext cx="437266" cy="488111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A" sz="126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F51FE69-73EE-B7CE-64F1-899F63457122}"/>
              </a:ext>
            </a:extLst>
          </p:cNvPr>
          <p:cNvSpPr txBox="1"/>
          <p:nvPr/>
        </p:nvSpPr>
        <p:spPr>
          <a:xfrm>
            <a:off x="1957274" y="3413494"/>
            <a:ext cx="3474028" cy="4804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522" dirty="0">
                <a:latin typeface="Arial" panose="020B0604020202020204" pitchFamily="34" charset="0"/>
                <a:cs typeface="Arial" panose="020B0604020202020204" pitchFamily="34" charset="0"/>
              </a:rPr>
              <a:t>Post Synaptic Neurons</a:t>
            </a:r>
          </a:p>
        </p:txBody>
      </p: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4329ECF8-C0D9-940F-0E94-8E4D3B90A1DD}"/>
              </a:ext>
            </a:extLst>
          </p:cNvPr>
          <p:cNvCxnSpPr>
            <a:cxnSpLocks/>
          </p:cNvCxnSpPr>
          <p:nvPr/>
        </p:nvCxnSpPr>
        <p:spPr>
          <a:xfrm>
            <a:off x="10811458" y="943065"/>
            <a:ext cx="0" cy="496313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7318B3B2-19F9-61B6-2203-CEAF1E788C4A}"/>
              </a:ext>
            </a:extLst>
          </p:cNvPr>
          <p:cNvCxnSpPr>
            <a:cxnSpLocks/>
          </p:cNvCxnSpPr>
          <p:nvPr/>
        </p:nvCxnSpPr>
        <p:spPr>
          <a:xfrm>
            <a:off x="11383839" y="924263"/>
            <a:ext cx="0" cy="536395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0106C110-6224-DFFE-8814-3C176FE79A2C}"/>
              </a:ext>
            </a:extLst>
          </p:cNvPr>
          <p:cNvCxnSpPr>
            <a:cxnSpLocks/>
          </p:cNvCxnSpPr>
          <p:nvPr/>
        </p:nvCxnSpPr>
        <p:spPr>
          <a:xfrm>
            <a:off x="12878684" y="943065"/>
            <a:ext cx="0" cy="446111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CC230ABB-4B21-43D8-90C6-714D4B8DAE42}"/>
              </a:ext>
            </a:extLst>
          </p:cNvPr>
          <p:cNvCxnSpPr>
            <a:cxnSpLocks/>
          </p:cNvCxnSpPr>
          <p:nvPr/>
        </p:nvCxnSpPr>
        <p:spPr>
          <a:xfrm>
            <a:off x="14892964" y="950519"/>
            <a:ext cx="2362" cy="476004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971A5CCB-6A9D-8549-5B9D-1E3FD46B5220}"/>
              </a:ext>
            </a:extLst>
          </p:cNvPr>
          <p:cNvCxnSpPr>
            <a:cxnSpLocks/>
          </p:cNvCxnSpPr>
          <p:nvPr/>
        </p:nvCxnSpPr>
        <p:spPr>
          <a:xfrm>
            <a:off x="15518814" y="924263"/>
            <a:ext cx="0" cy="354231"/>
          </a:xfrm>
          <a:prstGeom prst="line">
            <a:avLst/>
          </a:prstGeom>
          <a:ln w="38100">
            <a:prstDash val="sysDot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58BCB6CB-3BE2-8FF3-1793-36191BC63345}"/>
              </a:ext>
            </a:extLst>
          </p:cNvPr>
          <p:cNvCxnSpPr>
            <a:cxnSpLocks/>
          </p:cNvCxnSpPr>
          <p:nvPr/>
        </p:nvCxnSpPr>
        <p:spPr>
          <a:xfrm>
            <a:off x="8104499" y="2644381"/>
            <a:ext cx="1047750" cy="166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9DA5286E-3A5B-8256-9FD0-EB1CD52BAB12}"/>
              </a:ext>
            </a:extLst>
          </p:cNvPr>
          <p:cNvCxnSpPr>
            <a:cxnSpLocks/>
          </p:cNvCxnSpPr>
          <p:nvPr/>
        </p:nvCxnSpPr>
        <p:spPr>
          <a:xfrm>
            <a:off x="9122414" y="1439374"/>
            <a:ext cx="14685" cy="1210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Freeform: Shape 305">
            <a:extLst>
              <a:ext uri="{FF2B5EF4-FFF2-40B4-BE49-F238E27FC236}">
                <a16:creationId xmlns:a16="http://schemas.microsoft.com/office/drawing/2014/main" id="{5374782C-4E17-5627-7463-C7F54EA932F9}"/>
              </a:ext>
            </a:extLst>
          </p:cNvPr>
          <p:cNvSpPr/>
          <p:nvPr/>
        </p:nvSpPr>
        <p:spPr>
          <a:xfrm>
            <a:off x="9117581" y="1460654"/>
            <a:ext cx="1474690" cy="1210872"/>
          </a:xfrm>
          <a:custGeom>
            <a:avLst/>
            <a:gdLst>
              <a:gd name="connsiteX0" fmla="*/ 0 w 1638300"/>
              <a:gd name="connsiteY0" fmla="*/ 0 h 1209675"/>
              <a:gd name="connsiteX1" fmla="*/ 619125 w 1638300"/>
              <a:gd name="connsiteY1" fmla="*/ 1038225 h 1209675"/>
              <a:gd name="connsiteX2" fmla="*/ 1638300 w 1638300"/>
              <a:gd name="connsiteY2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8300" h="1209675">
                <a:moveTo>
                  <a:pt x="0" y="0"/>
                </a:moveTo>
                <a:cubicBezTo>
                  <a:pt x="173037" y="418306"/>
                  <a:pt x="346075" y="836613"/>
                  <a:pt x="619125" y="1038225"/>
                </a:cubicBezTo>
                <a:cubicBezTo>
                  <a:pt x="892175" y="1239837"/>
                  <a:pt x="1309688" y="1187450"/>
                  <a:pt x="1638300" y="1209675"/>
                </a:cubicBezTo>
              </a:path>
            </a:pathLst>
          </a:cu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41973EF8-FD48-7370-1DB6-C0EB43DDF8DA}"/>
              </a:ext>
            </a:extLst>
          </p:cNvPr>
          <p:cNvCxnSpPr>
            <a:cxnSpLocks/>
          </p:cNvCxnSpPr>
          <p:nvPr/>
        </p:nvCxnSpPr>
        <p:spPr>
          <a:xfrm>
            <a:off x="10812613" y="1389172"/>
            <a:ext cx="18358" cy="127794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B15B101A-E9F7-0D89-1C27-5D4EA0C0380E}"/>
              </a:ext>
            </a:extLst>
          </p:cNvPr>
          <p:cNvCxnSpPr>
            <a:cxnSpLocks/>
          </p:cNvCxnSpPr>
          <p:nvPr/>
        </p:nvCxnSpPr>
        <p:spPr>
          <a:xfrm>
            <a:off x="11393878" y="1221125"/>
            <a:ext cx="28232" cy="115982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Freeform: Shape 309">
            <a:extLst>
              <a:ext uri="{FF2B5EF4-FFF2-40B4-BE49-F238E27FC236}">
                <a16:creationId xmlns:a16="http://schemas.microsoft.com/office/drawing/2014/main" id="{2A80751C-A7A8-4846-75AF-52C00F520726}"/>
              </a:ext>
            </a:extLst>
          </p:cNvPr>
          <p:cNvSpPr/>
          <p:nvPr/>
        </p:nvSpPr>
        <p:spPr>
          <a:xfrm>
            <a:off x="11389052" y="1242404"/>
            <a:ext cx="1514615" cy="1368711"/>
          </a:xfrm>
          <a:custGeom>
            <a:avLst/>
            <a:gdLst>
              <a:gd name="connsiteX0" fmla="*/ 0 w 1638300"/>
              <a:gd name="connsiteY0" fmla="*/ 0 h 1209675"/>
              <a:gd name="connsiteX1" fmla="*/ 619125 w 1638300"/>
              <a:gd name="connsiteY1" fmla="*/ 1038225 h 1209675"/>
              <a:gd name="connsiteX2" fmla="*/ 1638300 w 1638300"/>
              <a:gd name="connsiteY2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8300" h="1209675">
                <a:moveTo>
                  <a:pt x="0" y="0"/>
                </a:moveTo>
                <a:cubicBezTo>
                  <a:pt x="173037" y="418306"/>
                  <a:pt x="346075" y="836613"/>
                  <a:pt x="619125" y="1038225"/>
                </a:cubicBezTo>
                <a:cubicBezTo>
                  <a:pt x="892175" y="1239837"/>
                  <a:pt x="1309688" y="1187450"/>
                  <a:pt x="1638300" y="1209675"/>
                </a:cubicBezTo>
              </a:path>
            </a:pathLst>
          </a:cu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88" name="Freeform: Shape 310">
            <a:extLst>
              <a:ext uri="{FF2B5EF4-FFF2-40B4-BE49-F238E27FC236}">
                <a16:creationId xmlns:a16="http://schemas.microsoft.com/office/drawing/2014/main" id="{DA628804-45CC-7957-1393-879E6DD56C17}"/>
              </a:ext>
            </a:extLst>
          </p:cNvPr>
          <p:cNvSpPr/>
          <p:nvPr/>
        </p:nvSpPr>
        <p:spPr>
          <a:xfrm>
            <a:off x="10821445" y="1434246"/>
            <a:ext cx="601980" cy="952500"/>
          </a:xfrm>
          <a:custGeom>
            <a:avLst/>
            <a:gdLst>
              <a:gd name="connsiteX0" fmla="*/ 0 w 601980"/>
              <a:gd name="connsiteY0" fmla="*/ 0 h 952500"/>
              <a:gd name="connsiteX1" fmla="*/ 373380 w 601980"/>
              <a:gd name="connsiteY1" fmla="*/ 754380 h 952500"/>
              <a:gd name="connsiteX2" fmla="*/ 601980 w 601980"/>
              <a:gd name="connsiteY2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1980" h="952500">
                <a:moveTo>
                  <a:pt x="0" y="0"/>
                </a:moveTo>
                <a:cubicBezTo>
                  <a:pt x="136525" y="297815"/>
                  <a:pt x="273050" y="595630"/>
                  <a:pt x="373380" y="754380"/>
                </a:cubicBezTo>
                <a:cubicBezTo>
                  <a:pt x="473710" y="913130"/>
                  <a:pt x="601980" y="952500"/>
                  <a:pt x="601980" y="95250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89" name="Straight Connector 188">
            <a:extLst>
              <a:ext uri="{FF2B5EF4-FFF2-40B4-BE49-F238E27FC236}">
                <a16:creationId xmlns:a16="http://schemas.microsoft.com/office/drawing/2014/main" id="{E14B2973-43C9-880C-490E-012B77F21521}"/>
              </a:ext>
            </a:extLst>
          </p:cNvPr>
          <p:cNvCxnSpPr>
            <a:cxnSpLocks/>
          </p:cNvCxnSpPr>
          <p:nvPr/>
        </p:nvCxnSpPr>
        <p:spPr>
          <a:xfrm>
            <a:off x="12880567" y="1393961"/>
            <a:ext cx="14685" cy="12108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0" name="Freeform: Shape 312">
            <a:extLst>
              <a:ext uri="{FF2B5EF4-FFF2-40B4-BE49-F238E27FC236}">
                <a16:creationId xmlns:a16="http://schemas.microsoft.com/office/drawing/2014/main" id="{D6AC647B-4933-12EF-F0E0-1C68336D456E}"/>
              </a:ext>
            </a:extLst>
          </p:cNvPr>
          <p:cNvSpPr/>
          <p:nvPr/>
        </p:nvSpPr>
        <p:spPr>
          <a:xfrm>
            <a:off x="12875734" y="1415241"/>
            <a:ext cx="1474690" cy="1210872"/>
          </a:xfrm>
          <a:custGeom>
            <a:avLst/>
            <a:gdLst>
              <a:gd name="connsiteX0" fmla="*/ 0 w 1638300"/>
              <a:gd name="connsiteY0" fmla="*/ 0 h 1209675"/>
              <a:gd name="connsiteX1" fmla="*/ 619125 w 1638300"/>
              <a:gd name="connsiteY1" fmla="*/ 1038225 h 1209675"/>
              <a:gd name="connsiteX2" fmla="*/ 1638300 w 1638300"/>
              <a:gd name="connsiteY2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8300" h="1209675">
                <a:moveTo>
                  <a:pt x="0" y="0"/>
                </a:moveTo>
                <a:cubicBezTo>
                  <a:pt x="173037" y="418306"/>
                  <a:pt x="346075" y="836613"/>
                  <a:pt x="619125" y="1038225"/>
                </a:cubicBezTo>
                <a:cubicBezTo>
                  <a:pt x="892175" y="1239837"/>
                  <a:pt x="1309688" y="1187450"/>
                  <a:pt x="1638300" y="1209675"/>
                </a:cubicBezTo>
              </a:path>
            </a:pathLst>
          </a:cu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aphicFrame>
        <p:nvGraphicFramePr>
          <p:cNvPr id="191" name="Chart 190">
            <a:extLst>
              <a:ext uri="{FF2B5EF4-FFF2-40B4-BE49-F238E27FC236}">
                <a16:creationId xmlns:a16="http://schemas.microsoft.com/office/drawing/2014/main" id="{265D2419-3CCC-6E6E-4776-F773D618140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4819520"/>
              </p:ext>
            </p:extLst>
          </p:nvPr>
        </p:nvGraphicFramePr>
        <p:xfrm>
          <a:off x="14670652" y="1776118"/>
          <a:ext cx="2486835" cy="12202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E29890E8-35C0-7F21-2346-1DC11BAB82C1}"/>
              </a:ext>
            </a:extLst>
          </p:cNvPr>
          <p:cNvCxnSpPr>
            <a:cxnSpLocks/>
          </p:cNvCxnSpPr>
          <p:nvPr/>
        </p:nvCxnSpPr>
        <p:spPr>
          <a:xfrm>
            <a:off x="14906989" y="1410562"/>
            <a:ext cx="0" cy="12155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7321C113-9E16-6322-4596-B25E792B20D7}"/>
              </a:ext>
            </a:extLst>
          </p:cNvPr>
          <p:cNvCxnSpPr>
            <a:cxnSpLocks/>
          </p:cNvCxnSpPr>
          <p:nvPr/>
        </p:nvCxnSpPr>
        <p:spPr>
          <a:xfrm flipH="1">
            <a:off x="15518237" y="1278494"/>
            <a:ext cx="576" cy="112373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Freeform: Shape 316">
            <a:extLst>
              <a:ext uri="{FF2B5EF4-FFF2-40B4-BE49-F238E27FC236}">
                <a16:creationId xmlns:a16="http://schemas.microsoft.com/office/drawing/2014/main" id="{B1AA5642-963D-0417-8AF4-A97B9D089C0E}"/>
              </a:ext>
            </a:extLst>
          </p:cNvPr>
          <p:cNvSpPr/>
          <p:nvPr/>
        </p:nvSpPr>
        <p:spPr>
          <a:xfrm>
            <a:off x="14915820" y="1455632"/>
            <a:ext cx="602994" cy="925310"/>
          </a:xfrm>
          <a:custGeom>
            <a:avLst/>
            <a:gdLst>
              <a:gd name="connsiteX0" fmla="*/ 0 w 601980"/>
              <a:gd name="connsiteY0" fmla="*/ 0 h 952500"/>
              <a:gd name="connsiteX1" fmla="*/ 373380 w 601980"/>
              <a:gd name="connsiteY1" fmla="*/ 754380 h 952500"/>
              <a:gd name="connsiteX2" fmla="*/ 601980 w 601980"/>
              <a:gd name="connsiteY2" fmla="*/ 95250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1980" h="952500">
                <a:moveTo>
                  <a:pt x="0" y="0"/>
                </a:moveTo>
                <a:cubicBezTo>
                  <a:pt x="136525" y="297815"/>
                  <a:pt x="273050" y="595630"/>
                  <a:pt x="373380" y="754380"/>
                </a:cubicBezTo>
                <a:cubicBezTo>
                  <a:pt x="473710" y="913130"/>
                  <a:pt x="601980" y="952500"/>
                  <a:pt x="601980" y="952500"/>
                </a:cubicBezTo>
              </a:path>
            </a:pathLst>
          </a:cu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5" name="Freeform: Shape 317">
            <a:extLst>
              <a:ext uri="{FF2B5EF4-FFF2-40B4-BE49-F238E27FC236}">
                <a16:creationId xmlns:a16="http://schemas.microsoft.com/office/drawing/2014/main" id="{09513B74-76CD-D437-504A-FE42322B893F}"/>
              </a:ext>
            </a:extLst>
          </p:cNvPr>
          <p:cNvSpPr/>
          <p:nvPr/>
        </p:nvSpPr>
        <p:spPr>
          <a:xfrm>
            <a:off x="15526329" y="1289077"/>
            <a:ext cx="1514615" cy="1368711"/>
          </a:xfrm>
          <a:custGeom>
            <a:avLst/>
            <a:gdLst>
              <a:gd name="connsiteX0" fmla="*/ 0 w 1638300"/>
              <a:gd name="connsiteY0" fmla="*/ 0 h 1209675"/>
              <a:gd name="connsiteX1" fmla="*/ 619125 w 1638300"/>
              <a:gd name="connsiteY1" fmla="*/ 1038225 h 1209675"/>
              <a:gd name="connsiteX2" fmla="*/ 1638300 w 1638300"/>
              <a:gd name="connsiteY2" fmla="*/ 1209675 h 1209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38300" h="1209675">
                <a:moveTo>
                  <a:pt x="0" y="0"/>
                </a:moveTo>
                <a:cubicBezTo>
                  <a:pt x="173037" y="418306"/>
                  <a:pt x="346075" y="836613"/>
                  <a:pt x="619125" y="1038225"/>
                </a:cubicBezTo>
                <a:cubicBezTo>
                  <a:pt x="892175" y="1239837"/>
                  <a:pt x="1309688" y="1187450"/>
                  <a:pt x="1638300" y="1209675"/>
                </a:cubicBezTo>
              </a:path>
            </a:pathLst>
          </a:cu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1F1356AA-6533-F237-D0A8-49D8D7313084}"/>
              </a:ext>
            </a:extLst>
          </p:cNvPr>
          <p:cNvCxnSpPr>
            <a:cxnSpLocks/>
            <a:stCxn id="190" idx="2"/>
          </p:cNvCxnSpPr>
          <p:nvPr/>
        </p:nvCxnSpPr>
        <p:spPr>
          <a:xfrm>
            <a:off x="14350424" y="2626113"/>
            <a:ext cx="5425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Freeform: Shape 319">
            <a:extLst>
              <a:ext uri="{FF2B5EF4-FFF2-40B4-BE49-F238E27FC236}">
                <a16:creationId xmlns:a16="http://schemas.microsoft.com/office/drawing/2014/main" id="{B9DDFD57-5DB5-BEE7-1986-16E3D8FC3D1E}"/>
              </a:ext>
            </a:extLst>
          </p:cNvPr>
          <p:cNvSpPr/>
          <p:nvPr/>
        </p:nvSpPr>
        <p:spPr>
          <a:xfrm rot="1445228">
            <a:off x="3168273" y="1141549"/>
            <a:ext cx="563792" cy="575520"/>
          </a:xfrm>
          <a:custGeom>
            <a:avLst/>
            <a:gdLst>
              <a:gd name="connsiteX0" fmla="*/ 0 w 1514475"/>
              <a:gd name="connsiteY0" fmla="*/ 820167 h 830414"/>
              <a:gd name="connsiteX1" fmla="*/ 314325 w 1514475"/>
              <a:gd name="connsiteY1" fmla="*/ 715392 h 830414"/>
              <a:gd name="connsiteX2" fmla="*/ 466725 w 1514475"/>
              <a:gd name="connsiteY2" fmla="*/ 1017 h 830414"/>
              <a:gd name="connsiteX3" fmla="*/ 628650 w 1514475"/>
              <a:gd name="connsiteY3" fmla="*/ 562992 h 830414"/>
              <a:gd name="connsiteX4" fmla="*/ 981075 w 1514475"/>
              <a:gd name="connsiteY4" fmla="*/ 782067 h 830414"/>
              <a:gd name="connsiteX5" fmla="*/ 1514475 w 1514475"/>
              <a:gd name="connsiteY5" fmla="*/ 820167 h 83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4475" h="830414">
                <a:moveTo>
                  <a:pt x="0" y="820167"/>
                </a:moveTo>
                <a:cubicBezTo>
                  <a:pt x="118269" y="836042"/>
                  <a:pt x="236538" y="851917"/>
                  <a:pt x="314325" y="715392"/>
                </a:cubicBezTo>
                <a:cubicBezTo>
                  <a:pt x="392113" y="578867"/>
                  <a:pt x="414338" y="26417"/>
                  <a:pt x="466725" y="1017"/>
                </a:cubicBezTo>
                <a:cubicBezTo>
                  <a:pt x="519113" y="-24383"/>
                  <a:pt x="542925" y="432817"/>
                  <a:pt x="628650" y="562992"/>
                </a:cubicBezTo>
                <a:cubicBezTo>
                  <a:pt x="714375" y="693167"/>
                  <a:pt x="833437" y="739204"/>
                  <a:pt x="981075" y="782067"/>
                </a:cubicBezTo>
                <a:cubicBezTo>
                  <a:pt x="1128713" y="824930"/>
                  <a:pt x="1321594" y="822548"/>
                  <a:pt x="1514475" y="820167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8" name="Freeform: Shape 320">
            <a:extLst>
              <a:ext uri="{FF2B5EF4-FFF2-40B4-BE49-F238E27FC236}">
                <a16:creationId xmlns:a16="http://schemas.microsoft.com/office/drawing/2014/main" id="{66DE23C6-5DDA-DC99-D4AB-5F6A7CAB3001}"/>
              </a:ext>
            </a:extLst>
          </p:cNvPr>
          <p:cNvSpPr/>
          <p:nvPr/>
        </p:nvSpPr>
        <p:spPr>
          <a:xfrm rot="2911069">
            <a:off x="2502755" y="1810724"/>
            <a:ext cx="563792" cy="239514"/>
          </a:xfrm>
          <a:custGeom>
            <a:avLst/>
            <a:gdLst>
              <a:gd name="connsiteX0" fmla="*/ 0 w 1514475"/>
              <a:gd name="connsiteY0" fmla="*/ 820167 h 830414"/>
              <a:gd name="connsiteX1" fmla="*/ 314325 w 1514475"/>
              <a:gd name="connsiteY1" fmla="*/ 715392 h 830414"/>
              <a:gd name="connsiteX2" fmla="*/ 466725 w 1514475"/>
              <a:gd name="connsiteY2" fmla="*/ 1017 h 830414"/>
              <a:gd name="connsiteX3" fmla="*/ 628650 w 1514475"/>
              <a:gd name="connsiteY3" fmla="*/ 562992 h 830414"/>
              <a:gd name="connsiteX4" fmla="*/ 981075 w 1514475"/>
              <a:gd name="connsiteY4" fmla="*/ 782067 h 830414"/>
              <a:gd name="connsiteX5" fmla="*/ 1514475 w 1514475"/>
              <a:gd name="connsiteY5" fmla="*/ 820167 h 83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4475" h="830414">
                <a:moveTo>
                  <a:pt x="0" y="820167"/>
                </a:moveTo>
                <a:cubicBezTo>
                  <a:pt x="118269" y="836042"/>
                  <a:pt x="236538" y="851917"/>
                  <a:pt x="314325" y="715392"/>
                </a:cubicBezTo>
                <a:cubicBezTo>
                  <a:pt x="392113" y="578867"/>
                  <a:pt x="414338" y="26417"/>
                  <a:pt x="466725" y="1017"/>
                </a:cubicBezTo>
                <a:cubicBezTo>
                  <a:pt x="519113" y="-24383"/>
                  <a:pt x="542925" y="432817"/>
                  <a:pt x="628650" y="562992"/>
                </a:cubicBezTo>
                <a:cubicBezTo>
                  <a:pt x="714375" y="693167"/>
                  <a:pt x="833437" y="739204"/>
                  <a:pt x="981075" y="782067"/>
                </a:cubicBezTo>
                <a:cubicBezTo>
                  <a:pt x="1128713" y="824930"/>
                  <a:pt x="1321594" y="822548"/>
                  <a:pt x="1514475" y="820167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9" name="Freeform: Shape 321">
            <a:extLst>
              <a:ext uri="{FF2B5EF4-FFF2-40B4-BE49-F238E27FC236}">
                <a16:creationId xmlns:a16="http://schemas.microsoft.com/office/drawing/2014/main" id="{5000ABB4-E6C8-61DE-7D65-8D29642220B2}"/>
              </a:ext>
            </a:extLst>
          </p:cNvPr>
          <p:cNvSpPr/>
          <p:nvPr/>
        </p:nvSpPr>
        <p:spPr>
          <a:xfrm rot="4890124">
            <a:off x="1887945" y="2022469"/>
            <a:ext cx="563792" cy="113221"/>
          </a:xfrm>
          <a:custGeom>
            <a:avLst/>
            <a:gdLst>
              <a:gd name="connsiteX0" fmla="*/ 0 w 1514475"/>
              <a:gd name="connsiteY0" fmla="*/ 820167 h 830414"/>
              <a:gd name="connsiteX1" fmla="*/ 314325 w 1514475"/>
              <a:gd name="connsiteY1" fmla="*/ 715392 h 830414"/>
              <a:gd name="connsiteX2" fmla="*/ 466725 w 1514475"/>
              <a:gd name="connsiteY2" fmla="*/ 1017 h 830414"/>
              <a:gd name="connsiteX3" fmla="*/ 628650 w 1514475"/>
              <a:gd name="connsiteY3" fmla="*/ 562992 h 830414"/>
              <a:gd name="connsiteX4" fmla="*/ 981075 w 1514475"/>
              <a:gd name="connsiteY4" fmla="*/ 782067 h 830414"/>
              <a:gd name="connsiteX5" fmla="*/ 1514475 w 1514475"/>
              <a:gd name="connsiteY5" fmla="*/ 820167 h 83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4475" h="830414">
                <a:moveTo>
                  <a:pt x="0" y="820167"/>
                </a:moveTo>
                <a:cubicBezTo>
                  <a:pt x="118269" y="836042"/>
                  <a:pt x="236538" y="851917"/>
                  <a:pt x="314325" y="715392"/>
                </a:cubicBezTo>
                <a:cubicBezTo>
                  <a:pt x="392113" y="578867"/>
                  <a:pt x="414338" y="26417"/>
                  <a:pt x="466725" y="1017"/>
                </a:cubicBezTo>
                <a:cubicBezTo>
                  <a:pt x="519113" y="-24383"/>
                  <a:pt x="542925" y="432817"/>
                  <a:pt x="628650" y="562992"/>
                </a:cubicBezTo>
                <a:cubicBezTo>
                  <a:pt x="714375" y="693167"/>
                  <a:pt x="833437" y="739204"/>
                  <a:pt x="981075" y="782067"/>
                </a:cubicBezTo>
                <a:cubicBezTo>
                  <a:pt x="1128713" y="824930"/>
                  <a:pt x="1321594" y="822548"/>
                  <a:pt x="1514475" y="820167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0" name="Freeform: Shape 322">
            <a:extLst>
              <a:ext uri="{FF2B5EF4-FFF2-40B4-BE49-F238E27FC236}">
                <a16:creationId xmlns:a16="http://schemas.microsoft.com/office/drawing/2014/main" id="{82C32DE2-5A25-7906-81A9-B2977DB6B6B0}"/>
              </a:ext>
            </a:extLst>
          </p:cNvPr>
          <p:cNvSpPr/>
          <p:nvPr/>
        </p:nvSpPr>
        <p:spPr>
          <a:xfrm rot="8500118">
            <a:off x="1249555" y="1486757"/>
            <a:ext cx="563792" cy="313629"/>
          </a:xfrm>
          <a:custGeom>
            <a:avLst/>
            <a:gdLst>
              <a:gd name="connsiteX0" fmla="*/ 0 w 1514475"/>
              <a:gd name="connsiteY0" fmla="*/ 820167 h 830414"/>
              <a:gd name="connsiteX1" fmla="*/ 314325 w 1514475"/>
              <a:gd name="connsiteY1" fmla="*/ 715392 h 830414"/>
              <a:gd name="connsiteX2" fmla="*/ 466725 w 1514475"/>
              <a:gd name="connsiteY2" fmla="*/ 1017 h 830414"/>
              <a:gd name="connsiteX3" fmla="*/ 628650 w 1514475"/>
              <a:gd name="connsiteY3" fmla="*/ 562992 h 830414"/>
              <a:gd name="connsiteX4" fmla="*/ 981075 w 1514475"/>
              <a:gd name="connsiteY4" fmla="*/ 782067 h 830414"/>
              <a:gd name="connsiteX5" fmla="*/ 1514475 w 1514475"/>
              <a:gd name="connsiteY5" fmla="*/ 820167 h 830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14475" h="830414">
                <a:moveTo>
                  <a:pt x="0" y="820167"/>
                </a:moveTo>
                <a:cubicBezTo>
                  <a:pt x="118269" y="836042"/>
                  <a:pt x="236538" y="851917"/>
                  <a:pt x="314325" y="715392"/>
                </a:cubicBezTo>
                <a:cubicBezTo>
                  <a:pt x="392113" y="578867"/>
                  <a:pt x="414338" y="26417"/>
                  <a:pt x="466725" y="1017"/>
                </a:cubicBezTo>
                <a:cubicBezTo>
                  <a:pt x="519113" y="-24383"/>
                  <a:pt x="542925" y="432817"/>
                  <a:pt x="628650" y="562992"/>
                </a:cubicBezTo>
                <a:cubicBezTo>
                  <a:pt x="714375" y="693167"/>
                  <a:pt x="833437" y="739204"/>
                  <a:pt x="981075" y="782067"/>
                </a:cubicBezTo>
                <a:cubicBezTo>
                  <a:pt x="1128713" y="824930"/>
                  <a:pt x="1321594" y="822548"/>
                  <a:pt x="1514475" y="820167"/>
                </a:cubicBezTo>
              </a:path>
            </a:pathLst>
          </a:cu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5D6F3618-C823-F85F-6EF7-76D1CDF08348}"/>
                  </a:ext>
                </a:extLst>
              </p:cNvPr>
              <p:cNvSpPr txBox="1"/>
              <p:nvPr/>
            </p:nvSpPr>
            <p:spPr>
              <a:xfrm>
                <a:off x="9261684" y="1113809"/>
                <a:ext cx="1146253" cy="3260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CA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CA" sz="20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CA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CA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CA" sz="200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CA" sz="200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CA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m:rPr>
                              <m:sty m:val="p"/>
                            </m:rPr>
                            <a:rPr lang="en-CA" sz="200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CA" sz="2000">
                              <a:latin typeface="Cambria Math" panose="02040503050406030204" pitchFamily="18" charset="0"/>
                            </a:rPr>
                            <m:t>/</m:t>
                          </m:r>
                          <m:sSub>
                            <m:sSubPr>
                              <m:ctrlPr>
                                <a:rPr lang="en-CA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CA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τ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CA" sz="2000">
                                  <a:latin typeface="Cambria Math" panose="02040503050406030204" pitchFamily="18" charset="0"/>
                                </a:rPr>
                                <m:t>synapse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CA" sz="2000" dirty="0"/>
              </a:p>
            </p:txBody>
          </p:sp>
        </mc:Choice>
        <mc:Fallback xmlns=""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5D6F3618-C823-F85F-6EF7-76D1CDF08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684" y="1113809"/>
                <a:ext cx="1146253" cy="326051"/>
              </a:xfrm>
              <a:prstGeom prst="rect">
                <a:avLst/>
              </a:prstGeom>
              <a:blipFill>
                <a:blip r:embed="rId4"/>
                <a:stretch>
                  <a:fillRect l="-7692" t="-3704" r="-34066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20257550-C72A-3636-0543-41F8D5E74A0A}"/>
              </a:ext>
            </a:extLst>
          </p:cNvPr>
          <p:cNvCxnSpPr>
            <a:cxnSpLocks/>
          </p:cNvCxnSpPr>
          <p:nvPr/>
        </p:nvCxnSpPr>
        <p:spPr>
          <a:xfrm>
            <a:off x="10592275" y="2671526"/>
            <a:ext cx="23870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Arrow Connector 202">
            <a:extLst>
              <a:ext uri="{FF2B5EF4-FFF2-40B4-BE49-F238E27FC236}">
                <a16:creationId xmlns:a16="http://schemas.microsoft.com/office/drawing/2014/main" id="{2F096F45-D850-D9C4-A4DF-C45C38D540C3}"/>
              </a:ext>
            </a:extLst>
          </p:cNvPr>
          <p:cNvCxnSpPr>
            <a:cxnSpLocks/>
            <a:stCxn id="155" idx="0"/>
            <a:endCxn id="201" idx="2"/>
          </p:cNvCxnSpPr>
          <p:nvPr/>
        </p:nvCxnSpPr>
        <p:spPr>
          <a:xfrm flipV="1">
            <a:off x="9712093" y="1439860"/>
            <a:ext cx="122714" cy="591503"/>
          </a:xfrm>
          <a:prstGeom prst="straightConnector1">
            <a:avLst/>
          </a:prstGeom>
          <a:ln w="19050">
            <a:prstDash val="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1752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15</Words>
  <Application>Microsoft Office PowerPoint</Application>
  <PresentationFormat>Custom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Arshia Razavi</dc:creator>
  <cp:lastModifiedBy>Arshia Razavi</cp:lastModifiedBy>
  <cp:revision>3</cp:revision>
  <dcterms:created xsi:type="dcterms:W3CDTF">2025-01-28T22:05:50Z</dcterms:created>
  <dcterms:modified xsi:type="dcterms:W3CDTF">2025-06-05T08:08:57Z</dcterms:modified>
</cp:coreProperties>
</file>