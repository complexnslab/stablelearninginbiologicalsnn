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1800066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>
        <p:scale>
          <a:sx n="67" d="100"/>
          <a:sy n="67" d="100"/>
        </p:scale>
        <p:origin x="1304" y="1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653181586970568"/>
          <c:y val="0.24080567023347182"/>
          <c:w val="0.76838712660872155"/>
          <c:h val="0.64524785049023992"/>
        </c:manualLayout>
      </c:layout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677225439"/>
        <c:axId val="519194655"/>
      </c:scatterChart>
      <c:valAx>
        <c:axId val="677225439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9194655"/>
        <c:crosses val="autoZero"/>
        <c:crossBetween val="midCat"/>
      </c:valAx>
      <c:valAx>
        <c:axId val="5191946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7225439"/>
        <c:crosses val="autoZero"/>
        <c:crossBetween val="midCat"/>
      </c:valAx>
      <c:spPr>
        <a:solidFill>
          <a:sysClr val="window" lastClr="FFFFFF"/>
        </a:solidFill>
        <a:ln>
          <a:solidFill>
            <a:schemeClr val="bg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254000">
      <a:solidFill>
        <a:schemeClr val="bg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706933"/>
            <a:ext cx="13500497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2268784"/>
            <a:ext cx="13500497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5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6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076898"/>
            <a:ext cx="15525572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2890725"/>
            <a:ext cx="15525572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1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149892"/>
            <a:ext cx="7650282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149892"/>
            <a:ext cx="7650282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229979"/>
            <a:ext cx="15525572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058899"/>
            <a:ext cx="7615123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1577851"/>
            <a:ext cx="7615123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058899"/>
            <a:ext cx="765262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1577851"/>
            <a:ext cx="7652626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7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6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0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287972"/>
            <a:ext cx="580568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621942"/>
            <a:ext cx="9112836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1295878"/>
            <a:ext cx="580568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287972"/>
            <a:ext cx="580568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621942"/>
            <a:ext cx="9112836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1295878"/>
            <a:ext cx="580568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8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7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6" y="229978"/>
            <a:ext cx="3881392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229978"/>
            <a:ext cx="11419171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229979"/>
            <a:ext cx="15525572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149892"/>
            <a:ext cx="15525572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4003618"/>
            <a:ext cx="405014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8B9C8-0904-5843-8A6E-65F315609440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4003618"/>
            <a:ext cx="607522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9" y="4003618"/>
            <a:ext cx="405014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7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53">
            <a:extLst>
              <a:ext uri="{FF2B5EF4-FFF2-40B4-BE49-F238E27FC236}">
                <a16:creationId xmlns:a16="http://schemas.microsoft.com/office/drawing/2014/main" id="{48F0784B-584C-75B3-DCB3-BBD5BE0D83A8}"/>
              </a:ext>
            </a:extLst>
          </p:cNvPr>
          <p:cNvSpPr txBox="1"/>
          <p:nvPr/>
        </p:nvSpPr>
        <p:spPr>
          <a:xfrm>
            <a:off x="16283636" y="3600151"/>
            <a:ext cx="1183529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363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9673EB2-D977-BF03-5CB7-00DF00865937}"/>
              </a:ext>
            </a:extLst>
          </p:cNvPr>
          <p:cNvSpPr/>
          <p:nvPr/>
        </p:nvSpPr>
        <p:spPr>
          <a:xfrm rot="3396957">
            <a:off x="8754863" y="1919852"/>
            <a:ext cx="1500416" cy="495860"/>
          </a:xfrm>
          <a:prstGeom prst="ellipse">
            <a:avLst/>
          </a:prstGeom>
          <a:solidFill>
            <a:schemeClr val="bg1"/>
          </a:solidFill>
          <a:ln w="190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4DEF3E1-BCCC-3E23-E9FE-02ADEDD41D2E}"/>
              </a:ext>
            </a:extLst>
          </p:cNvPr>
          <p:cNvSpPr txBox="1"/>
          <p:nvPr/>
        </p:nvSpPr>
        <p:spPr>
          <a:xfrm>
            <a:off x="5950990" y="534763"/>
            <a:ext cx="2486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latin typeface="Arial" panose="020B0604020202020204" pitchFamily="34" charset="0"/>
                <a:cs typeface="Arial" panose="020B0604020202020204" pitchFamily="34" charset="0"/>
              </a:rPr>
              <a:t>Spike Train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93F571B-AE39-0DD9-C2D1-A1BEAFBBDC40}"/>
              </a:ext>
            </a:extLst>
          </p:cNvPr>
          <p:cNvCxnSpPr>
            <a:cxnSpLocks/>
          </p:cNvCxnSpPr>
          <p:nvPr/>
        </p:nvCxnSpPr>
        <p:spPr>
          <a:xfrm flipV="1">
            <a:off x="7642126" y="3320164"/>
            <a:ext cx="9686803" cy="330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15039E0-A5B8-A24F-1C8A-EFB22903D672}"/>
              </a:ext>
            </a:extLst>
          </p:cNvPr>
          <p:cNvSpPr txBox="1"/>
          <p:nvPr/>
        </p:nvSpPr>
        <p:spPr>
          <a:xfrm>
            <a:off x="894301" y="443806"/>
            <a:ext cx="3023585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522" dirty="0">
                <a:latin typeface="Arial" panose="020B0604020202020204" pitchFamily="34" charset="0"/>
                <a:cs typeface="Arial" panose="020B0604020202020204" pitchFamily="34" charset="0"/>
              </a:rPr>
              <a:t>Presynaptic Neuron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A14C81E-6A63-605F-3F2D-16089D7EDD95}"/>
              </a:ext>
            </a:extLst>
          </p:cNvPr>
          <p:cNvCxnSpPr/>
          <p:nvPr/>
        </p:nvCxnSpPr>
        <p:spPr>
          <a:xfrm>
            <a:off x="9123400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26D6C6F-AC01-7651-DDDF-BC30F20907C9}"/>
              </a:ext>
            </a:extLst>
          </p:cNvPr>
          <p:cNvCxnSpPr/>
          <p:nvPr/>
        </p:nvCxnSpPr>
        <p:spPr>
          <a:xfrm>
            <a:off x="10811458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0F3A5D9-C82A-1E0C-175E-852680B7CAFC}"/>
              </a:ext>
            </a:extLst>
          </p:cNvPr>
          <p:cNvCxnSpPr/>
          <p:nvPr/>
        </p:nvCxnSpPr>
        <p:spPr>
          <a:xfrm>
            <a:off x="11383839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83AC0403-4892-04FD-20AE-922C21E815D1}"/>
              </a:ext>
            </a:extLst>
          </p:cNvPr>
          <p:cNvCxnSpPr/>
          <p:nvPr/>
        </p:nvCxnSpPr>
        <p:spPr>
          <a:xfrm>
            <a:off x="12878684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B5DB5594-B6D8-9554-8CB7-37DDCE59D7BD}"/>
              </a:ext>
            </a:extLst>
          </p:cNvPr>
          <p:cNvCxnSpPr/>
          <p:nvPr/>
        </p:nvCxnSpPr>
        <p:spPr>
          <a:xfrm>
            <a:off x="15518814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446D146-1B69-8CD3-1E6E-ECD12F93786F}"/>
              </a:ext>
            </a:extLst>
          </p:cNvPr>
          <p:cNvCxnSpPr/>
          <p:nvPr/>
        </p:nvCxnSpPr>
        <p:spPr>
          <a:xfrm>
            <a:off x="14895326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95DF6021-802C-EFB7-FDF8-68ADD8268607}"/>
              </a:ext>
            </a:extLst>
          </p:cNvPr>
          <p:cNvSpPr/>
          <p:nvPr/>
        </p:nvSpPr>
        <p:spPr>
          <a:xfrm>
            <a:off x="1738641" y="970790"/>
            <a:ext cx="437266" cy="488111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AB83D36-667B-F294-1FEB-98DC759E6488}"/>
              </a:ext>
            </a:extLst>
          </p:cNvPr>
          <p:cNvCxnSpPr>
            <a:cxnSpLocks/>
            <a:stCxn id="165" idx="4"/>
            <a:endCxn id="173" idx="0"/>
          </p:cNvCxnSpPr>
          <p:nvPr/>
        </p:nvCxnSpPr>
        <p:spPr>
          <a:xfrm>
            <a:off x="1957274" y="1458901"/>
            <a:ext cx="139652" cy="11769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21E0D8E-4AC7-F9F1-B168-6E20CBF60DCD}"/>
              </a:ext>
            </a:extLst>
          </p:cNvPr>
          <p:cNvCxnSpPr>
            <a:cxnSpLocks/>
          </p:cNvCxnSpPr>
          <p:nvPr/>
        </p:nvCxnSpPr>
        <p:spPr>
          <a:xfrm flipH="1">
            <a:off x="9122410" y="924259"/>
            <a:ext cx="990" cy="502264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65A336A3-7C8F-4CB4-7F0F-A081C3988FC7}"/>
                  </a:ext>
                </a:extLst>
              </p:cNvPr>
              <p:cNvSpPr txBox="1"/>
              <p:nvPr/>
            </p:nvSpPr>
            <p:spPr>
              <a:xfrm>
                <a:off x="5642951" y="1764000"/>
                <a:ext cx="2486835" cy="628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32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CA" sz="32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𝐔𝐧𝐢𝐭</m:t>
                    </m:r>
                    <m:r>
                      <a:rPr lang="en-CA" sz="32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CA" sz="32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𝐏𝐒𝐂</m:t>
                    </m:r>
                    <m:r>
                      <a:rPr lang="en-CA" sz="32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  <m:sSub>
                      <m:sSubPr>
                        <m:ctrlPr>
                          <a:rPr lang="en-CA" sz="32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CA" sz="3200" b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𝐈</m:t>
                        </m:r>
                      </m:e>
                      <m:sub>
                        <m:r>
                          <a:rPr lang="en-CA" sz="3200" b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𝐩𝐫𝐞</m:t>
                        </m:r>
                      </m:sub>
                    </m:sSub>
                  </m:oMath>
                </a14:m>
                <a:r>
                  <a:rPr lang="en-CA" sz="3363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65A336A3-7C8F-4CB4-7F0F-A081C398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951" y="1764000"/>
                <a:ext cx="2486835" cy="628826"/>
              </a:xfrm>
              <a:prstGeom prst="rect">
                <a:avLst/>
              </a:prstGeom>
              <a:blipFill>
                <a:blip r:embed="rId2"/>
                <a:stretch>
                  <a:fillRect l="-4061" r="-15228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765FBBE6-B2DF-3B94-8E78-0223451F21EC}"/>
              </a:ext>
            </a:extLst>
          </p:cNvPr>
          <p:cNvCxnSpPr>
            <a:cxnSpLocks/>
            <a:stCxn id="165" idx="5"/>
            <a:endCxn id="174" idx="1"/>
          </p:cNvCxnSpPr>
          <p:nvPr/>
        </p:nvCxnSpPr>
        <p:spPr>
          <a:xfrm>
            <a:off x="2111871" y="1387415"/>
            <a:ext cx="918428" cy="11398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71EF6E5-F1E8-5651-9828-973D70AB4AF9}"/>
              </a:ext>
            </a:extLst>
          </p:cNvPr>
          <p:cNvCxnSpPr>
            <a:cxnSpLocks/>
            <a:stCxn id="165" idx="2"/>
            <a:endCxn id="172" idx="7"/>
          </p:cNvCxnSpPr>
          <p:nvPr/>
        </p:nvCxnSpPr>
        <p:spPr>
          <a:xfrm flipH="1">
            <a:off x="986817" y="1214842"/>
            <a:ext cx="751824" cy="5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BE7D485-0DE2-512F-C863-BAD64B811A94}"/>
              </a:ext>
            </a:extLst>
          </p:cNvPr>
          <p:cNvCxnSpPr>
            <a:cxnSpLocks/>
            <a:stCxn id="165" idx="6"/>
            <a:endCxn id="175" idx="2"/>
          </p:cNvCxnSpPr>
          <p:nvPr/>
        </p:nvCxnSpPr>
        <p:spPr>
          <a:xfrm>
            <a:off x="2175911" y="1214846"/>
            <a:ext cx="2362401" cy="1130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Oval 171">
            <a:extLst>
              <a:ext uri="{FF2B5EF4-FFF2-40B4-BE49-F238E27FC236}">
                <a16:creationId xmlns:a16="http://schemas.microsoft.com/office/drawing/2014/main" id="{F7A84143-167A-E04E-9559-B45BBC499C7B}"/>
              </a:ext>
            </a:extLst>
          </p:cNvPr>
          <p:cNvSpPr/>
          <p:nvPr/>
        </p:nvSpPr>
        <p:spPr>
          <a:xfrm>
            <a:off x="613587" y="1663200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5653FFD-6846-A3AE-E1DB-D296D851D8E5}"/>
              </a:ext>
            </a:extLst>
          </p:cNvPr>
          <p:cNvSpPr/>
          <p:nvPr/>
        </p:nvSpPr>
        <p:spPr>
          <a:xfrm>
            <a:off x="1878293" y="2635900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503B017F-0874-7CDC-1A22-1CA04B5E1C84}"/>
              </a:ext>
            </a:extLst>
          </p:cNvPr>
          <p:cNvSpPr/>
          <p:nvPr/>
        </p:nvSpPr>
        <p:spPr>
          <a:xfrm>
            <a:off x="2966263" y="2455791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E88893FA-F702-1AC3-EC6E-3A440455FAB8}"/>
              </a:ext>
            </a:extLst>
          </p:cNvPr>
          <p:cNvSpPr/>
          <p:nvPr/>
        </p:nvSpPr>
        <p:spPr>
          <a:xfrm>
            <a:off x="4538308" y="2101067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F51FE69-73EE-B7CE-64F1-899F63457122}"/>
              </a:ext>
            </a:extLst>
          </p:cNvPr>
          <p:cNvSpPr txBox="1"/>
          <p:nvPr/>
        </p:nvSpPr>
        <p:spPr>
          <a:xfrm>
            <a:off x="1957274" y="3413494"/>
            <a:ext cx="3474028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522" dirty="0">
                <a:latin typeface="Arial" panose="020B0604020202020204" pitchFamily="34" charset="0"/>
                <a:cs typeface="Arial" panose="020B0604020202020204" pitchFamily="34" charset="0"/>
              </a:rPr>
              <a:t>Post Synaptic Neurons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329ECF8-C0D9-940F-0E94-8E4D3B90A1DD}"/>
              </a:ext>
            </a:extLst>
          </p:cNvPr>
          <p:cNvCxnSpPr>
            <a:cxnSpLocks/>
          </p:cNvCxnSpPr>
          <p:nvPr/>
        </p:nvCxnSpPr>
        <p:spPr>
          <a:xfrm>
            <a:off x="10811458" y="943065"/>
            <a:ext cx="0" cy="496313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7318B3B2-19F9-61B6-2203-CEAF1E788C4A}"/>
              </a:ext>
            </a:extLst>
          </p:cNvPr>
          <p:cNvCxnSpPr>
            <a:cxnSpLocks/>
          </p:cNvCxnSpPr>
          <p:nvPr/>
        </p:nvCxnSpPr>
        <p:spPr>
          <a:xfrm>
            <a:off x="11383839" y="924263"/>
            <a:ext cx="0" cy="53639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106C110-6224-DFFE-8814-3C176FE79A2C}"/>
              </a:ext>
            </a:extLst>
          </p:cNvPr>
          <p:cNvCxnSpPr>
            <a:cxnSpLocks/>
          </p:cNvCxnSpPr>
          <p:nvPr/>
        </p:nvCxnSpPr>
        <p:spPr>
          <a:xfrm>
            <a:off x="12878684" y="943065"/>
            <a:ext cx="0" cy="44611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C230ABB-4B21-43D8-90C6-714D4B8DAE42}"/>
              </a:ext>
            </a:extLst>
          </p:cNvPr>
          <p:cNvCxnSpPr>
            <a:cxnSpLocks/>
          </p:cNvCxnSpPr>
          <p:nvPr/>
        </p:nvCxnSpPr>
        <p:spPr>
          <a:xfrm>
            <a:off x="14892964" y="950519"/>
            <a:ext cx="2362" cy="476004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971A5CCB-6A9D-8549-5B9D-1E3FD46B5220}"/>
              </a:ext>
            </a:extLst>
          </p:cNvPr>
          <p:cNvCxnSpPr>
            <a:cxnSpLocks/>
          </p:cNvCxnSpPr>
          <p:nvPr/>
        </p:nvCxnSpPr>
        <p:spPr>
          <a:xfrm>
            <a:off x="15518814" y="924263"/>
            <a:ext cx="0" cy="35423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8BCB6CB-3BE2-8FF3-1793-36191BC63345}"/>
              </a:ext>
            </a:extLst>
          </p:cNvPr>
          <p:cNvCxnSpPr>
            <a:cxnSpLocks/>
          </p:cNvCxnSpPr>
          <p:nvPr/>
        </p:nvCxnSpPr>
        <p:spPr>
          <a:xfrm>
            <a:off x="8104499" y="2644381"/>
            <a:ext cx="1047750" cy="16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DA5286E-3A5B-8256-9FD0-EB1CD52BAB12}"/>
              </a:ext>
            </a:extLst>
          </p:cNvPr>
          <p:cNvCxnSpPr>
            <a:cxnSpLocks/>
          </p:cNvCxnSpPr>
          <p:nvPr/>
        </p:nvCxnSpPr>
        <p:spPr>
          <a:xfrm>
            <a:off x="9122414" y="1439374"/>
            <a:ext cx="14685" cy="1210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Freeform: Shape 305">
            <a:extLst>
              <a:ext uri="{FF2B5EF4-FFF2-40B4-BE49-F238E27FC236}">
                <a16:creationId xmlns:a16="http://schemas.microsoft.com/office/drawing/2014/main" id="{5374782C-4E17-5627-7463-C7F54EA932F9}"/>
              </a:ext>
            </a:extLst>
          </p:cNvPr>
          <p:cNvSpPr/>
          <p:nvPr/>
        </p:nvSpPr>
        <p:spPr>
          <a:xfrm>
            <a:off x="9117581" y="1460654"/>
            <a:ext cx="1474690" cy="1210872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973EF8-FD48-7370-1DB6-C0EB43DDF8DA}"/>
              </a:ext>
            </a:extLst>
          </p:cNvPr>
          <p:cNvCxnSpPr>
            <a:cxnSpLocks/>
          </p:cNvCxnSpPr>
          <p:nvPr/>
        </p:nvCxnSpPr>
        <p:spPr>
          <a:xfrm>
            <a:off x="10812613" y="1389172"/>
            <a:ext cx="18358" cy="12779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B15B101A-E9F7-0D89-1C27-5D4EA0C0380E}"/>
              </a:ext>
            </a:extLst>
          </p:cNvPr>
          <p:cNvCxnSpPr>
            <a:cxnSpLocks/>
          </p:cNvCxnSpPr>
          <p:nvPr/>
        </p:nvCxnSpPr>
        <p:spPr>
          <a:xfrm>
            <a:off x="11393878" y="1221125"/>
            <a:ext cx="28232" cy="11598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Freeform: Shape 309">
            <a:extLst>
              <a:ext uri="{FF2B5EF4-FFF2-40B4-BE49-F238E27FC236}">
                <a16:creationId xmlns:a16="http://schemas.microsoft.com/office/drawing/2014/main" id="{2A80751C-A7A8-4846-75AF-52C00F520726}"/>
              </a:ext>
            </a:extLst>
          </p:cNvPr>
          <p:cNvSpPr/>
          <p:nvPr/>
        </p:nvSpPr>
        <p:spPr>
          <a:xfrm>
            <a:off x="11389052" y="1242404"/>
            <a:ext cx="1514615" cy="1368711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8" name="Freeform: Shape 310">
            <a:extLst>
              <a:ext uri="{FF2B5EF4-FFF2-40B4-BE49-F238E27FC236}">
                <a16:creationId xmlns:a16="http://schemas.microsoft.com/office/drawing/2014/main" id="{DA628804-45CC-7957-1393-879E6DD56C17}"/>
              </a:ext>
            </a:extLst>
          </p:cNvPr>
          <p:cNvSpPr/>
          <p:nvPr/>
        </p:nvSpPr>
        <p:spPr>
          <a:xfrm>
            <a:off x="10821445" y="1434246"/>
            <a:ext cx="601980" cy="952500"/>
          </a:xfrm>
          <a:custGeom>
            <a:avLst/>
            <a:gdLst>
              <a:gd name="connsiteX0" fmla="*/ 0 w 601980"/>
              <a:gd name="connsiteY0" fmla="*/ 0 h 952500"/>
              <a:gd name="connsiteX1" fmla="*/ 373380 w 601980"/>
              <a:gd name="connsiteY1" fmla="*/ 754380 h 952500"/>
              <a:gd name="connsiteX2" fmla="*/ 601980 w 601980"/>
              <a:gd name="connsiteY2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1980" h="952500">
                <a:moveTo>
                  <a:pt x="0" y="0"/>
                </a:moveTo>
                <a:cubicBezTo>
                  <a:pt x="136525" y="297815"/>
                  <a:pt x="273050" y="595630"/>
                  <a:pt x="373380" y="754380"/>
                </a:cubicBezTo>
                <a:cubicBezTo>
                  <a:pt x="473710" y="913130"/>
                  <a:pt x="601980" y="952500"/>
                  <a:pt x="601980" y="95250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14B2973-43C9-880C-490E-012B77F21521}"/>
              </a:ext>
            </a:extLst>
          </p:cNvPr>
          <p:cNvCxnSpPr>
            <a:cxnSpLocks/>
          </p:cNvCxnSpPr>
          <p:nvPr/>
        </p:nvCxnSpPr>
        <p:spPr>
          <a:xfrm>
            <a:off x="12880567" y="1393961"/>
            <a:ext cx="14685" cy="1210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Freeform: Shape 312">
            <a:extLst>
              <a:ext uri="{FF2B5EF4-FFF2-40B4-BE49-F238E27FC236}">
                <a16:creationId xmlns:a16="http://schemas.microsoft.com/office/drawing/2014/main" id="{D6AC647B-4933-12EF-F0E0-1C68336D456E}"/>
              </a:ext>
            </a:extLst>
          </p:cNvPr>
          <p:cNvSpPr/>
          <p:nvPr/>
        </p:nvSpPr>
        <p:spPr>
          <a:xfrm>
            <a:off x="12875734" y="1415241"/>
            <a:ext cx="1474690" cy="1210872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91" name="Chart 190">
            <a:extLst>
              <a:ext uri="{FF2B5EF4-FFF2-40B4-BE49-F238E27FC236}">
                <a16:creationId xmlns:a16="http://schemas.microsoft.com/office/drawing/2014/main" id="{265D2419-3CCC-6E6E-4776-F773D61814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4819520"/>
              </p:ext>
            </p:extLst>
          </p:nvPr>
        </p:nvGraphicFramePr>
        <p:xfrm>
          <a:off x="14670652" y="1776118"/>
          <a:ext cx="2486835" cy="122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29890E8-35C0-7F21-2346-1DC11BAB82C1}"/>
              </a:ext>
            </a:extLst>
          </p:cNvPr>
          <p:cNvCxnSpPr>
            <a:cxnSpLocks/>
          </p:cNvCxnSpPr>
          <p:nvPr/>
        </p:nvCxnSpPr>
        <p:spPr>
          <a:xfrm>
            <a:off x="14906989" y="1410562"/>
            <a:ext cx="0" cy="12155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321C113-9E16-6322-4596-B25E792B20D7}"/>
              </a:ext>
            </a:extLst>
          </p:cNvPr>
          <p:cNvCxnSpPr>
            <a:cxnSpLocks/>
          </p:cNvCxnSpPr>
          <p:nvPr/>
        </p:nvCxnSpPr>
        <p:spPr>
          <a:xfrm flipH="1">
            <a:off x="15518237" y="1278494"/>
            <a:ext cx="576" cy="11237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reeform: Shape 316">
            <a:extLst>
              <a:ext uri="{FF2B5EF4-FFF2-40B4-BE49-F238E27FC236}">
                <a16:creationId xmlns:a16="http://schemas.microsoft.com/office/drawing/2014/main" id="{B1AA5642-963D-0417-8AF4-A97B9D089C0E}"/>
              </a:ext>
            </a:extLst>
          </p:cNvPr>
          <p:cNvSpPr/>
          <p:nvPr/>
        </p:nvSpPr>
        <p:spPr>
          <a:xfrm>
            <a:off x="14915820" y="1455632"/>
            <a:ext cx="602994" cy="925310"/>
          </a:xfrm>
          <a:custGeom>
            <a:avLst/>
            <a:gdLst>
              <a:gd name="connsiteX0" fmla="*/ 0 w 601980"/>
              <a:gd name="connsiteY0" fmla="*/ 0 h 952500"/>
              <a:gd name="connsiteX1" fmla="*/ 373380 w 601980"/>
              <a:gd name="connsiteY1" fmla="*/ 754380 h 952500"/>
              <a:gd name="connsiteX2" fmla="*/ 601980 w 601980"/>
              <a:gd name="connsiteY2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1980" h="952500">
                <a:moveTo>
                  <a:pt x="0" y="0"/>
                </a:moveTo>
                <a:cubicBezTo>
                  <a:pt x="136525" y="297815"/>
                  <a:pt x="273050" y="595630"/>
                  <a:pt x="373380" y="754380"/>
                </a:cubicBezTo>
                <a:cubicBezTo>
                  <a:pt x="473710" y="913130"/>
                  <a:pt x="601980" y="952500"/>
                  <a:pt x="601980" y="95250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5" name="Freeform: Shape 317">
            <a:extLst>
              <a:ext uri="{FF2B5EF4-FFF2-40B4-BE49-F238E27FC236}">
                <a16:creationId xmlns:a16="http://schemas.microsoft.com/office/drawing/2014/main" id="{09513B74-76CD-D437-504A-FE42322B893F}"/>
              </a:ext>
            </a:extLst>
          </p:cNvPr>
          <p:cNvSpPr/>
          <p:nvPr/>
        </p:nvSpPr>
        <p:spPr>
          <a:xfrm>
            <a:off x="15526329" y="1289077"/>
            <a:ext cx="1514615" cy="1368711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F1356AA-6533-F237-D0A8-49D8D7313084}"/>
              </a:ext>
            </a:extLst>
          </p:cNvPr>
          <p:cNvCxnSpPr>
            <a:cxnSpLocks/>
            <a:stCxn id="190" idx="2"/>
          </p:cNvCxnSpPr>
          <p:nvPr/>
        </p:nvCxnSpPr>
        <p:spPr>
          <a:xfrm>
            <a:off x="14350424" y="2626113"/>
            <a:ext cx="5425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Freeform: Shape 319">
            <a:extLst>
              <a:ext uri="{FF2B5EF4-FFF2-40B4-BE49-F238E27FC236}">
                <a16:creationId xmlns:a16="http://schemas.microsoft.com/office/drawing/2014/main" id="{B9DDFD57-5DB5-BEE7-1986-16E3D8FC3D1E}"/>
              </a:ext>
            </a:extLst>
          </p:cNvPr>
          <p:cNvSpPr/>
          <p:nvPr/>
        </p:nvSpPr>
        <p:spPr>
          <a:xfrm rot="1445228">
            <a:off x="3168273" y="1141549"/>
            <a:ext cx="563792" cy="575520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8" name="Freeform: Shape 320">
            <a:extLst>
              <a:ext uri="{FF2B5EF4-FFF2-40B4-BE49-F238E27FC236}">
                <a16:creationId xmlns:a16="http://schemas.microsoft.com/office/drawing/2014/main" id="{66DE23C6-5DDA-DC99-D4AB-5F6A7CAB3001}"/>
              </a:ext>
            </a:extLst>
          </p:cNvPr>
          <p:cNvSpPr/>
          <p:nvPr/>
        </p:nvSpPr>
        <p:spPr>
          <a:xfrm rot="2911069">
            <a:off x="2502755" y="1810724"/>
            <a:ext cx="563792" cy="239514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9" name="Freeform: Shape 321">
            <a:extLst>
              <a:ext uri="{FF2B5EF4-FFF2-40B4-BE49-F238E27FC236}">
                <a16:creationId xmlns:a16="http://schemas.microsoft.com/office/drawing/2014/main" id="{5000ABB4-E6C8-61DE-7D65-8D29642220B2}"/>
              </a:ext>
            </a:extLst>
          </p:cNvPr>
          <p:cNvSpPr/>
          <p:nvPr/>
        </p:nvSpPr>
        <p:spPr>
          <a:xfrm rot="4890124">
            <a:off x="1887945" y="2022469"/>
            <a:ext cx="563792" cy="113221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0" name="Freeform: Shape 322">
            <a:extLst>
              <a:ext uri="{FF2B5EF4-FFF2-40B4-BE49-F238E27FC236}">
                <a16:creationId xmlns:a16="http://schemas.microsoft.com/office/drawing/2014/main" id="{82C32DE2-5A25-7906-81A9-B2977DB6B6B0}"/>
              </a:ext>
            </a:extLst>
          </p:cNvPr>
          <p:cNvSpPr/>
          <p:nvPr/>
        </p:nvSpPr>
        <p:spPr>
          <a:xfrm rot="8500118">
            <a:off x="1249555" y="1486757"/>
            <a:ext cx="563792" cy="313629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D6F3618-C823-F85F-6EF7-76D1CDF08348}"/>
                  </a:ext>
                </a:extLst>
              </p:cNvPr>
              <p:cNvSpPr txBox="1"/>
              <p:nvPr/>
            </p:nvSpPr>
            <p:spPr>
              <a:xfrm>
                <a:off x="9261684" y="1113809"/>
                <a:ext cx="1146253" cy="326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CA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CA" sz="200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2000">
                                  <a:latin typeface="Cambria Math" panose="02040503050406030204" pitchFamily="18" charset="0"/>
                                </a:rPr>
                                <m:t>synapse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CA" sz="2000" dirty="0"/>
              </a:p>
            </p:txBody>
          </p:sp>
        </mc:Choice>
        <mc:Fallback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D6F3618-C823-F85F-6EF7-76D1CDF08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684" y="1113809"/>
                <a:ext cx="1146253" cy="326051"/>
              </a:xfrm>
              <a:prstGeom prst="rect">
                <a:avLst/>
              </a:prstGeom>
              <a:blipFill>
                <a:blip r:embed="rId4"/>
                <a:stretch>
                  <a:fillRect l="-7692" t="-3704" r="-3406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0257550-C72A-3636-0543-41F8D5E74A0A}"/>
              </a:ext>
            </a:extLst>
          </p:cNvPr>
          <p:cNvCxnSpPr>
            <a:cxnSpLocks/>
          </p:cNvCxnSpPr>
          <p:nvPr/>
        </p:nvCxnSpPr>
        <p:spPr>
          <a:xfrm>
            <a:off x="10592275" y="2671526"/>
            <a:ext cx="2387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2F096F45-D850-D9C4-A4DF-C45C38D540C3}"/>
              </a:ext>
            </a:extLst>
          </p:cNvPr>
          <p:cNvCxnSpPr>
            <a:cxnSpLocks/>
            <a:stCxn id="155" idx="0"/>
            <a:endCxn id="201" idx="2"/>
          </p:cNvCxnSpPr>
          <p:nvPr/>
        </p:nvCxnSpPr>
        <p:spPr>
          <a:xfrm flipV="1">
            <a:off x="9712093" y="1439860"/>
            <a:ext cx="122714" cy="591503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5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15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2025-01-28T22:05:50Z</dcterms:created>
  <dcterms:modified xsi:type="dcterms:W3CDTF">2025-01-28T22:12:11Z</dcterms:modified>
</cp:coreProperties>
</file>